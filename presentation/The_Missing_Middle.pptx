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21B069-1A4F-0E7B-1949-9EF83DE0C052}">
          <p14:sldIdLst>
            <p14:sldId id="256"/>
          </p14:sldIdLst>
        </p14:section>
        <p14:section name="Context" id="{92330D2F-ED14-B0AD-B542-B068D3A8A8C7}">
          <p14:sldIdLst>
            <p14:sldId id="257"/>
            <p14:sldId id="258"/>
            <p14:sldId id="259"/>
          </p14:sldIdLst>
        </p14:section>
        <p14:section name="Data" id="{892B7373-CE84-8462-6B15-F3FA4983A144}">
          <p14:sldIdLst>
            <p14:sldId id="260"/>
            <p14:sldId id="261"/>
            <p14:sldId id="262"/>
            <p14:sldId id="263"/>
          </p14:sldIdLst>
        </p14:section>
        <p14:section name="Q1 — The gap" id="{FAA38709-AFB9-0E57-C0E8-AF4C43073F68}">
          <p14:sldIdLst>
            <p14:sldId id="264"/>
            <p14:sldId id="265"/>
            <p14:sldId id="266"/>
            <p14:sldId id="267"/>
          </p14:sldIdLst>
        </p14:section>
        <p14:section name="Q2 — Modality tests" id="{8191A330-2383-F086-722B-92EFE0B0D671}">
          <p14:sldIdLst>
            <p14:sldId id="268"/>
            <p14:sldId id="269"/>
          </p14:sldIdLst>
        </p14:section>
        <p14:section name="Q3 — Predictors" id="{86B27F9F-818D-6A68-C537-12FB8AA39C3B}">
          <p14:sldIdLst>
            <p14:sldId id="270"/>
            <p14:sldId id="271"/>
          </p14:sldIdLst>
        </p14:section>
        <p14:section name="Q4 — Period" id="{C01C9E6F-1450-0C55-434B-4D1F22DF42B2}">
          <p14:sldIdLst>
            <p14:sldId id="272"/>
            <p14:sldId id="273"/>
          </p14:sldIdLst>
        </p14:section>
        <p14:section name="Limitations" id="{FB244EDE-716F-7CA5-72DA-F05367A44C71}">
          <p14:sldIdLst>
            <p14:sldId id="274"/>
          </p14:sldIdLst>
        </p14:section>
        <p14:section name="Conclusion" id="{14FF467F-A507-1368-CB7E-69968798BBE7}">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860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radius gap is a shortage of planets of one particular size. This talk asks how strong the statistical evidence for it is in public NASA archive data, and what properties decide which side of it a planet falls on. Three numbers to keep in mind: 2,587 planets, a density minimum at 1.76 Earth radii, and a period effect of 0.335.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only: planet sizes are not uniformly distributed. Among small exoplanets, radii between roughly 1.5 and 2.0 Earth radii are conspicuously rare. Small planets split into rocky super-Earths, which have lost their primordial atmosphere, and sub-Neptunes, which kept a thick hydrogen–helium envelope. The gap marks the boundary between keeping and losing that envelope. First resolved by Fulton et al. (2017) in the California-Kepler Survey.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Photoevaporation: X-ray and UV radiation from the young host star strips the primordial envelope within roughly the first 100 million years, strongest close to the star. Core-powered mass loss: the planet's own cooling interior heats the envelope from below and drives it off, far more gradually, over billions of years. Different physics, but one identical prediction: orbital period should track a planet's final size. That shared prediction is what can be tested statistically without choosing between the mechanisms.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Q1: does a carefully filtered sample show two populations, and where does the boundary sit? (GMM, KDE, bootstrap). Q2: do formal tests of multimodality support the structure, or reveal their own limits? (Silverman, Hartigan dip, power simulation). Q3: leaving radius out, can orbital and stellar properties tell which side a planet falls on? (logistic regression, random forest). Q4: is the predicted period-dependence real, classically and under Bayesian estimation? (KS, Mann-Whitney, Beta-Binomial). The tracker in the top-right corner shows where we 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NASA Exoplanet Archive, Planetary Systems Composite Parameters (PSCompPars), downloaded 15 July 2026 — 6,319 planets, 84 columns. Transit 74%, radial velocity 19%, nine other methods 7%. Transit median period 8.0 days vs radial velocity 307.9 days (Mann-Whitney p ≈ 4.4×10⁻³⁰⁰). The small-planet region relevant to the gap is populated almost entirely by transit detections. Caveat: this is a composite catalogue — each column comes from whichever study reported it most completely, so columns for one planet need not be mutually consistent.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methodological decision. Where a radius wasn't measured, the archive fills it from the Chen &amp; Kipping (2017) mass–radius relation. Plotting mass against radius makes this visible: the calculated values fall exactly on a piecewise curve, measured ones scatter around it. 1,518 planets (24%) carry a calculated radius, including 94.6% of radial-velocity (M sin i) masses — that horizontal band on the previous slide was a formula. A deterministic formula cannot reproduce fine structure, so leaving them in would smooth away the very gap under study.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pre-specified cuts: 1) has radius and period (−390); 2) not controversial (−50); 3) radius measured, not calculated (−1,166); 4) radius not a limit value (−3); 5) period not a limit value (0); 6) radius in 0.5–4 Earth radii, following Fulton et al. (−1,198); 7) relative radius error under 20%, since noise that large can smear a 0.3–0.5 Earth-radius feature (−925). The orange bars are the three big cuts. Every step is printed in notebook 01. A transit-only variant gives 2,562 planets, only 25 fewer, and is used for sensitivity tests.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planet: period on a log scale across, radius up. The gold line marks the gap at 1.76 Earth radii — the location estimated in Q1 and used for every label downstream. 1,570 planets (60.7%) sit above it, 1,017 (39.3%) below. Point at the lower edge of the cloud rising to the right — it returns on the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mixtures with one, two and three components on log radius. AIC: −1724.37, −1965.93, −1985.55; BIC: −1712.65, −1936.63, −1938.68. One → two: ΔAIC ≈ −241.6, ΔBIC ≈ −224.0, decisive. Two → three: ΔBIC ≈ −2, negligible. Components at 1.36 (43.7%) and 2.51 Earth radii (56.3%). But the white curve — the mixture — has a single maximum at 2.45 and no interior minimum. Model comparison shows one Gaussian is inadequate; it does not show bimodality. The evidence for a gap has to come from a non-parametric estimate.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figure. Bars are the raw planets, the white curve is the kernel density estimate with Scott's-rule bandwidth (factor 0.208). It finds a local minimum at 1.76 Earth radii, between peaks at 1.58 and 2.46 — inside the 1.5–2.0 range in the literature. Bandwidth-stable: 1.76 → 1.78 → 1.80 at factors 0.208, 0.18 and 0.15 (violet curve). The KDE is non-parametric, so it isn't forced into a two-Gaussian shape — mirroring the structure of Fulton et al.'s method. The gold band is the bootstrap interval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on position. Left: 500 bootstrap resamples; a minimum is recovered in 436 (87.2%), mean 1.76, 95% CI [1.67, 1.83]. Right: four independently filtered samples (300 resamples each) — main 1.761, transit only 1.750, period &lt; 100 d 1.757, relative error &lt; 10% 1.737 — all within 0.03 Earth radii. Where the gap sits is not an artefact of how the sample was built.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the density at the minimum is 1.599 against 1.638 at the neighbouring peak — 2.4% lower. Fulton et al. report roughly a factor of two. Why shallower: the archive pools heterogeneous literature sources of differing precision; a composite catalogue admits no survey-completeness correction; Fulton et al. worked from one homogeneous sample with uniformly precise radii. Stable in location, weak in amplitude — which the modality tests are about to expose.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same null hypothesis, opposite verdicts. Pause here. Silverman's critical bandwidth test: h_crit = 0.0445, 1,000 smoothed bootstraps, p = 0.028 — it measures how much smoothing is needed before the second mode disappears, so it responds to whether a mode exists. Hartigan's dip: dip = 0.0073, p = 0.52 — the largest distance between the empirical CDF and the closest unimodal CDF, so it is governed by how deep the valley is. At 2.4% depth, the dip barely registers.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dip test's null could mean absence or insensitivity — testable. Two-component populations simulated at n = 2,587, 200 draws per scenario, α = 0.05: a well-separated (0.08 dex) gap is detected 100% of the time; 0.10 dex, 15%; 0.12 dex, 0%; and the configuration fitted to this sample, 0%. Its null result is about the feature, not the test. Method integrity: my first Silverman implementation resampled the raw values, which manufactures spurious modes and gave p = 0.54. The smoothed bootstrap of Silverman (1981) gives p = 0.028, and was validated on known data: p = 0.505 for a simulated unimodal sample, p = 0.000 for a bimodal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Planets are labelled above or below 1.76 Earth radii, then every radius-derived quantity is removed. Eight predictors: period, insolation, stellar temperature, radius, mass, metallicity, distance, number of planets (eccentricity dropped for 20% missingness). 2,289 complete cases, stratified 1,716 / 573 split; log-transform and scaler fitted on train only; balanced class weights. Test ROC-AUC: logistic regression 0.770, random forest 0.790. 5-fold CV: 0.761 ± 0.018 and 0.811 ± 0.009. Excluding the ambiguous zone 1.62–1.83: 0.772 and 0.810. RF under-gap recall is only 0.57. Excluding radius means a result above chance cannot be circular.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put orbital period and insolation (gold) at the top: close-in, highly irradiated planets tend to sit below the gap. But they are near-redundant by construction (S ∝ L⋆/a², a ∝ P^2/3): correlation −0.74, VIF 21.5 and 26.9 (threshold 10). Impurity importance ranks period first; permutation importance on the held-out set ranks insolation first (0.094 vs 0.054). The defensible claim is that the period–insolation axis jointly dominates. System distance is read as a detection-bias artefact.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at 10 days: the cumulative curves separate by D = 0.339 and the medians are 1.67 vs 2.34 Earth radii. KS p = 7.8×10⁻⁶⁶; Mann-Whitney U = 509,419.5, p = 3.9×10⁻⁶⁴; Kruskal-Wallis over three period groups H = 381.8, p = 1.2×10⁻⁸³ — one finding confirmed three ways. Also: multi-planet membership is associated with gap position (χ² = 13.18, p = 2.8×10⁻⁴, peas in a pod); discovery method is not (Fisher OR 1.22, p = 0.68), but with only 25 non-transit planets that is inconclusive.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Beta-Binomial with a flat Beta(1,1) prior. Short period: 644 of 1,415 above the gap → Beta(645, 772), mean 0.455 [0.429, 0.481]. Long period: 926 of 1,172 → Beta(927, 247), mean 0.790 [0.766, 0.812]. Δ = 0.335, 95% CrI [0.299, 0.369], P(p_long &gt; p_short) &gt; 0.9999. Robustness: sceptical Beta(20,20) prior moves Δ only to 0.324; 5/10/20-day cuts give 0.414 / 0.334 / 0.276; a cluster bootstrap over 1,932 host systems (42% of planets share a host) widens the interval by just 1.02× to [0.299, 0.370]. The posterior predictive check passes but cannot fail by construction, so it's reported as weak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counter-argument to the headline result. Transit signal-to-noise scales with planet size and with the number of transits in the observing window, so small planets on long orbits are systematically missed. The 5th-percentile radius climbs from 0.79 to 1.48 Earth radii across period bins, and the share of planets below 1.5 falls from 55% to 6%. A survey that fails to see small, distant planets produces exactly the reported pattern with no mass loss at all. Fulton et al. could correct for this within a homogeneous Kepler sample; a composite archive cannot.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distinction between what is established and what is not. A second mode near 1.76 Earth radii: bandwidth-stable, filter-robust (95% CI 1.67–1.83), supported by Silverman's test. But shallow: 2.4% below the adjacent peak, far weaker than the California-Kepler feature. A real period-dependence: Δ = 0.335, robust to prior, threshold and host clustering. Not a proven mechanism: transit detection bias predicts the same pattern and this sample cannot separate them. The next step is a homogeneous, completeness-corrected sample like the one Fulton et al. used — the only way to separate physics from selection.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17320"/>
            <a:ext cx="6858000" cy="365760"/>
          </a:xfrm>
          <a:prstGeom prst="rect">
            <a:avLst/>
          </a:prstGeom>
          <a:noFill/>
          <a:ln/>
        </p:spPr>
        <p:txBody>
          <a:bodyPr wrap="square" rtlCol="0"/>
          <a:lstStyle>
            <a:lvl1pPr marL="0" indent="0">
              <a:buNone/>
              <a:defRPr lang="en-US" sz="1300" b="1" kern="0" spc="400" dirty="0">
                <a:solidFill>
                  <a:schemeClr val="accent3"/>
                </a:solidFill>
              </a:defRPr>
            </a:lvl1pPr>
          </a:lstStyle>
          <a:p>
            <a:pPr marL="0" indent="0">
              <a:buNone/>
            </a:pPr>
            <a:endParaRPr lang="en-US" sz="1300" dirty="0"/>
          </a:p>
        </p:txBody>
      </p:sp>
      <p:sp>
        <p:nvSpPr>
          <p:cNvPr id="3" name="Text 0"/>
          <p:cNvSpPr>
            <a:spLocks noGrp="1"/>
          </p:cNvSpPr>
          <p:nvPr>
            <p:ph type="title" idx="101" hasCustomPrompt="1"/>
          </p:nvPr>
        </p:nvSpPr>
        <p:spPr>
          <a:xfrm>
            <a:off x="548640" y="1828800"/>
            <a:ext cx="7498080" cy="1234440"/>
          </a:xfrm>
          <a:prstGeom prst="rect">
            <a:avLst/>
          </a:prstGeom>
          <a:noFill/>
          <a:ln/>
        </p:spPr>
        <p:txBody>
          <a:bodyPr wrap="square" rtlCol="0"/>
          <a:lstStyle>
            <a:lvl1pPr marL="0" indent="0" algn="l">
              <a:buNone/>
              <a:defRPr lang="en-US" sz="6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6400" dirty="0"/>
          </a:p>
        </p:txBody>
      </p:sp>
      <p:sp>
        <p:nvSpPr>
          <p:cNvPr id="4" name="Text 0"/>
          <p:cNvSpPr>
            <a:spLocks noGrp="1"/>
          </p:cNvSpPr>
          <p:nvPr>
            <p:ph type="body" idx="102" hasCustomPrompt="1"/>
          </p:nvPr>
        </p:nvSpPr>
        <p:spPr>
          <a:xfrm>
            <a:off x="548640" y="3063240"/>
            <a:ext cx="6766560" cy="868680"/>
          </a:xfrm>
          <a:prstGeom prst="rect">
            <a:avLst/>
          </a:prstGeom>
          <a:noFill/>
          <a:ln/>
        </p:spPr>
        <p:txBody>
          <a:bodyPr wrap="square" rtlCol="0"/>
          <a:lstStyle>
            <a:lvl1pPr marL="0" indent="0">
              <a:buNone/>
              <a:defRPr lang="en-US" sz="2400" dirty="0">
                <a:solidFill>
                  <a:schemeClr val="accent5"/>
                </a:solidFill>
              </a:defRPr>
            </a:lvl1pPr>
          </a:lstStyle>
          <a:p>
            <a:pPr marL="0" indent="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rtlCol="0"/>
          <a:lstStyle>
            <a:lvl1pPr marL="0" indent="0">
              <a:buNone/>
              <a:defRPr lang="en-US" sz="1200" b="1" kern="0" spc="400" dirty="0">
                <a:solidFill>
                  <a:schemeClr val="accent3"/>
                </a:solidFill>
              </a:defRPr>
            </a:lvl1pPr>
          </a:lstStyle>
          <a:p>
            <a:pPr marL="0" indent="0">
              <a:buNone/>
            </a:pP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4" name="Text 0"/>
          <p:cNvSpPr/>
          <p:nvPr/>
        </p:nvSpPr>
        <p:spPr>
          <a:xfrm>
            <a:off x="548640" y="6400800"/>
            <a:ext cx="4572000" cy="256032"/>
          </a:xfrm>
          <a:prstGeom prst="rect">
            <a:avLst/>
          </a:prstGeom>
          <a:noFill/>
          <a:ln/>
        </p:spPr>
        <p:txBody>
          <a:bodyPr wrap="square" lIns="0" tIns="0" rIns="0" bIns="0" rtlCol="0" anchor="ctr"/>
          <a:lstStyle/>
          <a:p>
            <a:pPr marL="0" indent="0">
              <a:buNone/>
            </a:pPr>
            <a:r>
              <a:rPr lang="en-US" sz="1000" dirty="0">
                <a:solidFill>
                  <a:schemeClr val="bg2"/>
                </a:solidFill>
              </a:rPr>
              <a:t>The Missing Middle  ·  J. Mickovikj</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rtlCol="0"/>
          <a:lstStyle>
            <a:lvl1pPr marL="0" indent="0">
              <a:buNone/>
              <a:defRPr lang="en-US" sz="1200" b="1" kern="0" spc="400" dirty="0">
                <a:solidFill>
                  <a:schemeClr val="accent3"/>
                </a:solidFill>
              </a:defRPr>
            </a:lvl1pPr>
          </a:lstStyle>
          <a:p>
            <a:pPr marL="0" indent="0">
              <a:buNone/>
            </a:pP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1828800"/>
            <a:ext cx="7498080" cy="1234440"/>
          </a:xfrm>
          <a:prstGeom prst="rect">
            <a:avLst/>
          </a:prstGeom>
          <a:noFill/>
          <a:ln/>
        </p:spPr>
        <p:txBody>
          <a:bodyPr wrap="square" lIns="0" tIns="0" rIns="0" bIns="0" rtlCol="0" anchor="ctr"/>
          <a:lstStyle/>
          <a:p>
            <a:pPr marL="0" indent="0" algn="l">
              <a:buNone/>
            </a:pPr>
            <a:r>
              <a:rPr lang="en-US" sz="6400" b="1" dirty="0">
                <a:solidFill>
                  <a:schemeClr val="bg1"/>
                </a:solidFill>
                <a:latin typeface="Cambria" pitchFamily="34" charset="0"/>
                <a:ea typeface="Cambria" pitchFamily="34" charset="-122"/>
                <a:cs typeface="Cambria" pitchFamily="34" charset="-120"/>
              </a:rPr>
              <a:t>The Missing Middle</a:t>
            </a:r>
            <a:endParaRPr lang="en-US" sz="6400" dirty="0"/>
          </a:p>
        </p:txBody>
      </p:sp>
      <p:sp>
        <p:nvSpPr>
          <p:cNvPr id="4" name="Text 0"/>
          <p:cNvSpPr>
            <a:spLocks noGrp="1"/>
          </p:cNvSpPr>
          <p:nvPr>
            <p:ph type="body" idx="102" hasCustomPrompt="1"/>
          </p:nvPr>
        </p:nvSpPr>
        <p:spPr>
          <a:xfrm>
            <a:off x="548640" y="3063240"/>
            <a:ext cx="6766560" cy="868680"/>
          </a:xfrm>
          <a:prstGeom prst="rect">
            <a:avLst/>
          </a:prstGeom>
          <a:noFill/>
          <a:ln/>
        </p:spPr>
        <p:txBody>
          <a:bodyPr wrap="square" lIns="0" tIns="0" rIns="0" bIns="0" rtlCol="0" anchor="t"/>
          <a:lstStyle/>
          <a:p>
            <a:pPr marL="0" indent="0">
              <a:buNone/>
            </a:pPr>
            <a:r>
              <a:rPr lang="en-US" sz="2400" dirty="0">
                <a:solidFill>
                  <a:schemeClr val="accent5"/>
                </a:solidFill>
              </a:rPr>
              <a:t>A statistical investigation of the exoplanet radius gap</a:t>
            </a:r>
            <a:endParaRPr lang="en-US" sz="2400" dirty="0"/>
          </a:p>
        </p:txBody>
      </p:sp>
      <p:sp>
        <p:nvSpPr>
          <p:cNvPr id="5" name="text_1"/>
          <p:cNvSpPr txBox="1"/>
          <p:nvPr/>
        </p:nvSpPr>
        <p:spPr>
          <a:xfrm>
            <a:off x="548640" y="4846320"/>
            <a:ext cx="6400800" cy="365760"/>
          </a:xfrm>
          <a:prstGeom prst="rect">
            <a:avLst/>
          </a:prstGeom>
          <a:noFill/>
          <a:ln/>
        </p:spPr>
        <p:txBody>
          <a:bodyPr wrap="square" lIns="0" tIns="0" rIns="0" bIns="0" rtlCol="0" anchor="t"/>
          <a:lstStyle/>
          <a:p>
            <a:pPr marL="0" indent="0">
              <a:buNone/>
            </a:pPr>
            <a:r>
              <a:rPr lang="en-US" sz="2000" b="1" dirty="0">
                <a:solidFill>
                  <a:schemeClr val="bg1"/>
                </a:solidFill>
              </a:rPr>
              <a:t>Jovana Mickovikj</a:t>
            </a:r>
            <a:endParaRPr lang="en-US" sz="2000" dirty="0"/>
          </a:p>
        </p:txBody>
      </p:sp>
      <p:sp>
        <p:nvSpPr>
          <p:cNvPr id="6" name="text_2"/>
          <p:cNvSpPr txBox="1"/>
          <p:nvPr/>
        </p:nvSpPr>
        <p:spPr>
          <a:xfrm>
            <a:off x="548640" y="5257800"/>
            <a:ext cx="6583680" cy="566928"/>
          </a:xfrm>
          <a:prstGeom prst="rect">
            <a:avLst/>
          </a:prstGeom>
          <a:noFill/>
          <a:ln/>
        </p:spPr>
        <p:txBody>
          <a:bodyPr wrap="square" lIns="0" tIns="0" rIns="0" bIns="0" rtlCol="0" anchor="t"/>
          <a:lstStyle/>
          <a:p>
            <a:pPr marL="0" indent="0">
              <a:buNone/>
            </a:pPr>
            <a:r>
              <a:rPr lang="en-US" sz="1300" dirty="0">
                <a:solidFill>
                  <a:schemeClr val="bg2"/>
                </a:solidFill>
              </a:rPr>
              <a:t>Faculty of Computer Science and Engineering (FINKI)</a:t>
            </a:r>
            <a:endParaRPr lang="en-US" sz="1300" dirty="0"/>
          </a:p>
          <a:p>
            <a:pPr marL="0" indent="0">
              <a:buNone/>
            </a:pPr>
            <a:r>
              <a:rPr lang="en-US" sz="1300" dirty="0">
                <a:solidFill>
                  <a:schemeClr val="bg2"/>
                </a:solidFill>
              </a:rPr>
              <a:t>Ss. Cyril and Methodius University in Skopje</a:t>
            </a:r>
            <a:endParaRPr lang="en-US" sz="1300" dirty="0"/>
          </a:p>
        </p:txBody>
      </p:sp>
      <p:sp>
        <p:nvSpPr>
          <p:cNvPr id="8" name="Text Placeholder 7">
            <a:extLst>
              <a:ext uri="{FF2B5EF4-FFF2-40B4-BE49-F238E27FC236}">
                <a16:creationId xmlns:a16="http://schemas.microsoft.com/office/drawing/2014/main" id="{966A603F-129D-D7CE-6D52-D6F8B519B643}"/>
              </a:ext>
            </a:extLst>
          </p:cNvPr>
          <p:cNvSpPr>
            <a:spLocks noGrp="1"/>
          </p:cNvSpPr>
          <p:nvPr>
            <p:ph type="body" idx="100"/>
          </p:nvPr>
        </p:nvSpPr>
        <p:spPr/>
        <p:txBody>
          <a:bodyPr/>
          <a:lstStyle/>
          <a:p>
            <a:endParaRPr lang="mk-MK"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THE PHENOMENON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Planets don’t come in every size</a:t>
            </a:r>
            <a:endParaRPr lang="en-US" sz="3400" dirty="0"/>
          </a:p>
        </p:txBody>
      </p:sp>
      <p:sp>
        <p:nvSpPr>
          <p:cNvPr id="4" name="orbit_3"/>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4"/>
          <p:cNvSpPr/>
          <p:nvPr/>
        </p:nvSpPr>
        <p:spPr>
          <a:xfrm>
            <a:off x="9174175"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6" name="orbit_dot_5"/>
          <p:cNvSpPr/>
          <p:nvPr/>
        </p:nvSpPr>
        <p:spPr>
          <a:xfrm>
            <a:off x="960241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7" name="orbit_dot_6"/>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7"/>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8"/>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9"/>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0"/>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1"/>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CONTEXT</a:t>
            </a:r>
            <a:endParaRPr lang="en-US" sz="900" dirty="0"/>
          </a:p>
        </p:txBody>
      </p:sp>
      <p:sp>
        <p:nvSpPr>
          <p:cNvPr id="13" name="gapzone_12"/>
          <p:cNvSpPr/>
          <p:nvPr/>
        </p:nvSpPr>
        <p:spPr>
          <a:xfrm>
            <a:off x="4990141" y="1920240"/>
            <a:ext cx="1781563" cy="3337560"/>
          </a:xfrm>
          <a:prstGeom prst="rect">
            <a:avLst/>
          </a:prstGeom>
          <a:solidFill>
            <a:schemeClr val="accent3">
              <a:alpha val="12000"/>
            </a:schemeClr>
          </a:solidFill>
          <a:ln w="12700">
            <a:solidFill>
              <a:schemeClr val="accent3">
                <a:alpha val="0"/>
              </a:schemeClr>
            </a:solidFill>
            <a:prstDash val="solid"/>
          </a:ln>
        </p:spPr>
        <p:txBody>
          <a:bodyPr/>
          <a:lstStyle/>
          <a:p>
            <a:endParaRPr lang="mk-MK"/>
          </a:p>
        </p:txBody>
      </p:sp>
      <p:sp>
        <p:nvSpPr>
          <p:cNvPr id="14" name="gapline_13"/>
          <p:cNvSpPr/>
          <p:nvPr/>
        </p:nvSpPr>
        <p:spPr>
          <a:xfrm>
            <a:off x="4990141" y="1920240"/>
            <a:ext cx="0" cy="3337560"/>
          </a:xfrm>
          <a:prstGeom prst="line">
            <a:avLst/>
          </a:prstGeom>
          <a:noFill/>
          <a:ln w="12700">
            <a:solidFill>
              <a:schemeClr val="accent3"/>
            </a:solidFill>
            <a:prstDash val="dash"/>
          </a:ln>
        </p:spPr>
        <p:txBody>
          <a:bodyPr/>
          <a:lstStyle/>
          <a:p>
            <a:endParaRPr lang="mk-MK"/>
          </a:p>
        </p:txBody>
      </p:sp>
      <p:sp>
        <p:nvSpPr>
          <p:cNvPr id="15" name="gapline_14"/>
          <p:cNvSpPr/>
          <p:nvPr/>
        </p:nvSpPr>
        <p:spPr>
          <a:xfrm>
            <a:off x="6771704" y="1920240"/>
            <a:ext cx="0" cy="3337560"/>
          </a:xfrm>
          <a:prstGeom prst="line">
            <a:avLst/>
          </a:prstGeom>
          <a:noFill/>
          <a:ln w="12700">
            <a:solidFill>
              <a:schemeClr val="accent3"/>
            </a:solidFill>
            <a:prstDash val="dash"/>
          </a:ln>
        </p:spPr>
        <p:txBody>
          <a:bodyPr/>
          <a:lstStyle/>
          <a:p>
            <a:endParaRPr lang="mk-MK"/>
          </a:p>
        </p:txBody>
      </p:sp>
      <p:sp>
        <p:nvSpPr>
          <p:cNvPr id="16" name="text_15"/>
          <p:cNvSpPr txBox="1"/>
          <p:nvPr/>
        </p:nvSpPr>
        <p:spPr>
          <a:xfrm>
            <a:off x="4990141" y="2084832"/>
            <a:ext cx="1781563" cy="274320"/>
          </a:xfrm>
          <a:prstGeom prst="rect">
            <a:avLst/>
          </a:prstGeom>
          <a:noFill/>
          <a:ln/>
        </p:spPr>
        <p:txBody>
          <a:bodyPr wrap="square" lIns="0" tIns="0" rIns="0" bIns="0" rtlCol="0" anchor="t"/>
          <a:lstStyle/>
          <a:p>
            <a:pPr marL="0" indent="0" algn="ctr">
              <a:buNone/>
            </a:pPr>
            <a:r>
              <a:rPr lang="en-US" sz="1200" b="1" kern="0" spc="200" dirty="0">
                <a:solidFill>
                  <a:schemeClr val="accent3"/>
                </a:solidFill>
              </a:rPr>
              <a:t>THE RADIUS GAP</a:t>
            </a:r>
            <a:endParaRPr lang="en-US" sz="1200" dirty="0"/>
          </a:p>
        </p:txBody>
      </p:sp>
      <p:sp>
        <p:nvSpPr>
          <p:cNvPr id="17" name="text_16"/>
          <p:cNvSpPr txBox="1"/>
          <p:nvPr/>
        </p:nvSpPr>
        <p:spPr>
          <a:xfrm>
            <a:off x="4990141" y="2377440"/>
            <a:ext cx="1781563" cy="320040"/>
          </a:xfrm>
          <a:prstGeom prst="rect">
            <a:avLst/>
          </a:prstGeom>
          <a:noFill/>
          <a:ln/>
        </p:spPr>
        <p:txBody>
          <a:bodyPr wrap="square" lIns="0" tIns="0" rIns="0" bIns="0" rtlCol="0" anchor="t"/>
          <a:lstStyle/>
          <a:p>
            <a:pPr marL="0" indent="0" algn="ctr">
              <a:buNone/>
            </a:pPr>
            <a:r>
              <a:rPr lang="en-US" sz="1500" dirty="0">
                <a:solidFill>
                  <a:schemeClr val="bg1"/>
                </a:solidFill>
              </a:rPr>
              <a:t>1.5 – 2.0 R</a:t>
            </a:r>
            <a:r>
              <a:rPr lang="en-US" sz="1500" dirty="0">
                <a:solidFill>
                  <a:schemeClr val="bg1"/>
                </a:solidFill>
                <a:latin typeface="Cambria" pitchFamily="34" charset="0"/>
                <a:ea typeface="Cambria" pitchFamily="34" charset="-122"/>
                <a:cs typeface="Cambria" pitchFamily="34" charset="-120"/>
              </a:rPr>
              <a:t>⊕</a:t>
            </a:r>
            <a:endParaRPr lang="en-US" sz="1500" dirty="0"/>
          </a:p>
        </p:txBody>
      </p:sp>
      <p:sp>
        <p:nvSpPr>
          <p:cNvPr id="18" name="axis_17"/>
          <p:cNvSpPr/>
          <p:nvPr/>
        </p:nvSpPr>
        <p:spPr>
          <a:xfrm>
            <a:off x="1097280" y="5257800"/>
            <a:ext cx="9966960" cy="0"/>
          </a:xfrm>
          <a:prstGeom prst="line">
            <a:avLst/>
          </a:prstGeom>
          <a:noFill/>
          <a:ln w="12700">
            <a:solidFill>
              <a:schemeClr val="bg2"/>
            </a:solidFill>
            <a:prstDash val="solid"/>
            <a:tailEnd type="triangle"/>
          </a:ln>
        </p:spPr>
        <p:txBody>
          <a:bodyPr/>
          <a:lstStyle/>
          <a:p>
            <a:endParaRPr lang="mk-MK"/>
          </a:p>
        </p:txBody>
      </p:sp>
      <p:sp>
        <p:nvSpPr>
          <p:cNvPr id="19" name="tick_18"/>
          <p:cNvSpPr/>
          <p:nvPr/>
        </p:nvSpPr>
        <p:spPr>
          <a:xfrm>
            <a:off x="2479168" y="5257800"/>
            <a:ext cx="0" cy="82296"/>
          </a:xfrm>
          <a:prstGeom prst="line">
            <a:avLst/>
          </a:prstGeom>
          <a:noFill/>
          <a:ln w="12700">
            <a:solidFill>
              <a:schemeClr val="bg2"/>
            </a:solidFill>
            <a:prstDash val="solid"/>
          </a:ln>
        </p:spPr>
        <p:txBody>
          <a:bodyPr/>
          <a:lstStyle/>
          <a:p>
            <a:endParaRPr lang="mk-MK"/>
          </a:p>
        </p:txBody>
      </p:sp>
      <p:sp>
        <p:nvSpPr>
          <p:cNvPr id="20" name="text_19"/>
          <p:cNvSpPr txBox="1"/>
          <p:nvPr/>
        </p:nvSpPr>
        <p:spPr>
          <a:xfrm>
            <a:off x="2204848" y="5367528"/>
            <a:ext cx="548640" cy="237744"/>
          </a:xfrm>
          <a:prstGeom prst="rect">
            <a:avLst/>
          </a:prstGeom>
          <a:noFill/>
          <a:ln/>
        </p:spPr>
        <p:txBody>
          <a:bodyPr wrap="square" lIns="0" tIns="0" rIns="0" bIns="0" rtlCol="0" anchor="t"/>
          <a:lstStyle/>
          <a:p>
            <a:pPr marL="0" indent="0" algn="ctr">
              <a:buNone/>
            </a:pPr>
            <a:r>
              <a:rPr lang="en-US" sz="1200" dirty="0">
                <a:solidFill>
                  <a:schemeClr val="bg2"/>
                </a:solidFill>
              </a:rPr>
              <a:t>1</a:t>
            </a:r>
            <a:endParaRPr lang="en-US" sz="1200" dirty="0"/>
          </a:p>
        </p:txBody>
      </p:sp>
      <p:sp>
        <p:nvSpPr>
          <p:cNvPr id="21" name="tick_20"/>
          <p:cNvSpPr/>
          <p:nvPr/>
        </p:nvSpPr>
        <p:spPr>
          <a:xfrm>
            <a:off x="4990141" y="5257800"/>
            <a:ext cx="0" cy="82296"/>
          </a:xfrm>
          <a:prstGeom prst="line">
            <a:avLst/>
          </a:prstGeom>
          <a:noFill/>
          <a:ln w="12700">
            <a:solidFill>
              <a:schemeClr val="bg2"/>
            </a:solidFill>
            <a:prstDash val="solid"/>
          </a:ln>
        </p:spPr>
        <p:txBody>
          <a:bodyPr/>
          <a:lstStyle/>
          <a:p>
            <a:endParaRPr lang="mk-MK"/>
          </a:p>
        </p:txBody>
      </p:sp>
      <p:sp>
        <p:nvSpPr>
          <p:cNvPr id="22" name="text_21"/>
          <p:cNvSpPr txBox="1"/>
          <p:nvPr/>
        </p:nvSpPr>
        <p:spPr>
          <a:xfrm>
            <a:off x="4715821" y="5367528"/>
            <a:ext cx="548640" cy="237744"/>
          </a:xfrm>
          <a:prstGeom prst="rect">
            <a:avLst/>
          </a:prstGeom>
          <a:noFill/>
          <a:ln/>
        </p:spPr>
        <p:txBody>
          <a:bodyPr wrap="square" lIns="0" tIns="0" rIns="0" bIns="0" rtlCol="0" anchor="t"/>
          <a:lstStyle/>
          <a:p>
            <a:pPr marL="0" indent="0" algn="ctr">
              <a:buNone/>
            </a:pPr>
            <a:r>
              <a:rPr lang="en-US" sz="1200" dirty="0">
                <a:solidFill>
                  <a:schemeClr val="bg2"/>
                </a:solidFill>
              </a:rPr>
              <a:t>1.5</a:t>
            </a:r>
            <a:endParaRPr lang="en-US" sz="1200" dirty="0"/>
          </a:p>
        </p:txBody>
      </p:sp>
      <p:sp>
        <p:nvSpPr>
          <p:cNvPr id="23" name="tick_22"/>
          <p:cNvSpPr/>
          <p:nvPr/>
        </p:nvSpPr>
        <p:spPr>
          <a:xfrm>
            <a:off x="6771704" y="5257800"/>
            <a:ext cx="0" cy="82296"/>
          </a:xfrm>
          <a:prstGeom prst="line">
            <a:avLst/>
          </a:prstGeom>
          <a:noFill/>
          <a:ln w="12700">
            <a:solidFill>
              <a:schemeClr val="bg2"/>
            </a:solidFill>
            <a:prstDash val="solid"/>
          </a:ln>
        </p:spPr>
        <p:txBody>
          <a:bodyPr/>
          <a:lstStyle/>
          <a:p>
            <a:endParaRPr lang="mk-MK"/>
          </a:p>
        </p:txBody>
      </p:sp>
      <p:sp>
        <p:nvSpPr>
          <p:cNvPr id="24" name="text_23"/>
          <p:cNvSpPr txBox="1"/>
          <p:nvPr/>
        </p:nvSpPr>
        <p:spPr>
          <a:xfrm>
            <a:off x="6497384" y="5367528"/>
            <a:ext cx="548640" cy="237744"/>
          </a:xfrm>
          <a:prstGeom prst="rect">
            <a:avLst/>
          </a:prstGeom>
          <a:noFill/>
          <a:ln/>
        </p:spPr>
        <p:txBody>
          <a:bodyPr wrap="square" lIns="0" tIns="0" rIns="0" bIns="0" rtlCol="0" anchor="t"/>
          <a:lstStyle/>
          <a:p>
            <a:pPr marL="0" indent="0" algn="ctr">
              <a:buNone/>
            </a:pPr>
            <a:r>
              <a:rPr lang="en-US" sz="1200" dirty="0">
                <a:solidFill>
                  <a:schemeClr val="bg2"/>
                </a:solidFill>
              </a:rPr>
              <a:t>2</a:t>
            </a:r>
            <a:endParaRPr lang="en-US" sz="1200" dirty="0"/>
          </a:p>
        </p:txBody>
      </p:sp>
      <p:sp>
        <p:nvSpPr>
          <p:cNvPr id="25" name="tick_24"/>
          <p:cNvSpPr/>
          <p:nvPr/>
        </p:nvSpPr>
        <p:spPr>
          <a:xfrm>
            <a:off x="9282677" y="5257800"/>
            <a:ext cx="0" cy="82296"/>
          </a:xfrm>
          <a:prstGeom prst="line">
            <a:avLst/>
          </a:prstGeom>
          <a:noFill/>
          <a:ln w="12700">
            <a:solidFill>
              <a:schemeClr val="bg2"/>
            </a:solidFill>
            <a:prstDash val="solid"/>
          </a:ln>
        </p:spPr>
        <p:txBody>
          <a:bodyPr/>
          <a:lstStyle/>
          <a:p>
            <a:endParaRPr lang="mk-MK"/>
          </a:p>
        </p:txBody>
      </p:sp>
      <p:sp>
        <p:nvSpPr>
          <p:cNvPr id="26" name="text_25"/>
          <p:cNvSpPr txBox="1"/>
          <p:nvPr/>
        </p:nvSpPr>
        <p:spPr>
          <a:xfrm>
            <a:off x="9008357" y="5367528"/>
            <a:ext cx="548640" cy="237744"/>
          </a:xfrm>
          <a:prstGeom prst="rect">
            <a:avLst/>
          </a:prstGeom>
          <a:noFill/>
          <a:ln/>
        </p:spPr>
        <p:txBody>
          <a:bodyPr wrap="square" lIns="0" tIns="0" rIns="0" bIns="0" rtlCol="0" anchor="t"/>
          <a:lstStyle/>
          <a:p>
            <a:pPr marL="0" indent="0" algn="ctr">
              <a:buNone/>
            </a:pPr>
            <a:r>
              <a:rPr lang="en-US" sz="1200" dirty="0">
                <a:solidFill>
                  <a:schemeClr val="bg2"/>
                </a:solidFill>
              </a:rPr>
              <a:t>3</a:t>
            </a:r>
            <a:endParaRPr lang="en-US" sz="1200" dirty="0"/>
          </a:p>
        </p:txBody>
      </p:sp>
      <p:sp>
        <p:nvSpPr>
          <p:cNvPr id="27" name="tick_26"/>
          <p:cNvSpPr/>
          <p:nvPr/>
        </p:nvSpPr>
        <p:spPr>
          <a:xfrm>
            <a:off x="11064240" y="5257800"/>
            <a:ext cx="0" cy="82296"/>
          </a:xfrm>
          <a:prstGeom prst="line">
            <a:avLst/>
          </a:prstGeom>
          <a:noFill/>
          <a:ln w="12700">
            <a:solidFill>
              <a:schemeClr val="bg2"/>
            </a:solidFill>
            <a:prstDash val="solid"/>
          </a:ln>
        </p:spPr>
        <p:txBody>
          <a:bodyPr/>
          <a:lstStyle/>
          <a:p>
            <a:endParaRPr lang="mk-MK"/>
          </a:p>
        </p:txBody>
      </p:sp>
      <p:sp>
        <p:nvSpPr>
          <p:cNvPr id="28" name="text_27"/>
          <p:cNvSpPr txBox="1"/>
          <p:nvPr/>
        </p:nvSpPr>
        <p:spPr>
          <a:xfrm>
            <a:off x="10789920" y="5367528"/>
            <a:ext cx="548640" cy="237744"/>
          </a:xfrm>
          <a:prstGeom prst="rect">
            <a:avLst/>
          </a:prstGeom>
          <a:noFill/>
          <a:ln/>
        </p:spPr>
        <p:txBody>
          <a:bodyPr wrap="square" lIns="0" tIns="0" rIns="0" bIns="0" rtlCol="0" anchor="t"/>
          <a:lstStyle/>
          <a:p>
            <a:pPr marL="0" indent="0" algn="ctr">
              <a:buNone/>
            </a:pPr>
            <a:r>
              <a:rPr lang="en-US" sz="1200" dirty="0">
                <a:solidFill>
                  <a:schemeClr val="bg2"/>
                </a:solidFill>
              </a:rPr>
              <a:t>4</a:t>
            </a:r>
            <a:endParaRPr lang="en-US" sz="1200" dirty="0"/>
          </a:p>
        </p:txBody>
      </p:sp>
      <p:sp>
        <p:nvSpPr>
          <p:cNvPr id="29" name="text_28"/>
          <p:cNvSpPr txBox="1"/>
          <p:nvPr/>
        </p:nvSpPr>
        <p:spPr>
          <a:xfrm>
            <a:off x="8138160" y="5641848"/>
            <a:ext cx="2926080" cy="256032"/>
          </a:xfrm>
          <a:prstGeom prst="rect">
            <a:avLst/>
          </a:prstGeom>
          <a:noFill/>
          <a:ln/>
        </p:spPr>
        <p:txBody>
          <a:bodyPr wrap="square" lIns="0" tIns="0" rIns="0" bIns="0" rtlCol="0" anchor="t"/>
          <a:lstStyle/>
          <a:p>
            <a:pPr marL="0" indent="0" algn="r">
              <a:buNone/>
            </a:pPr>
            <a:r>
              <a:rPr lang="en-US" sz="1200" dirty="0">
                <a:solidFill>
                  <a:schemeClr val="bg2"/>
                </a:solidFill>
              </a:rPr>
              <a:t>Planet radius  [R</a:t>
            </a:r>
            <a:r>
              <a:rPr lang="en-US" sz="1200" dirty="0">
                <a:solidFill>
                  <a:schemeClr val="bg2"/>
                </a:solidFill>
                <a:latin typeface="Cambria" pitchFamily="34" charset="0"/>
                <a:ea typeface="Cambria" pitchFamily="34" charset="-122"/>
                <a:cs typeface="Cambria" pitchFamily="34" charset="-120"/>
              </a:rPr>
              <a:t>⊕</a:t>
            </a:r>
            <a:r>
              <a:rPr lang="en-US" sz="1200" dirty="0">
                <a:solidFill>
                  <a:schemeClr val="bg2"/>
                </a:solidFill>
              </a:rPr>
              <a:t>]</a:t>
            </a:r>
            <a:endParaRPr lang="en-US" sz="1200" dirty="0"/>
          </a:p>
        </p:txBody>
      </p:sp>
      <p:pic>
        <p:nvPicPr>
          <p:cNvPr id="30" name="planet_29" descr="Rocky super-Earth"/>
          <p:cNvPicPr>
            <a:picLocks noChangeAspect="1"/>
          </p:cNvPicPr>
          <p:nvPr/>
        </p:nvPicPr>
        <p:blipFill>
          <a:blip r:embed="rId3"/>
          <a:stretch>
            <a:fillRect/>
          </a:stretch>
        </p:blipFill>
        <p:spPr>
          <a:xfrm>
            <a:off x="2808153" y="3429000"/>
            <a:ext cx="1600200" cy="1600200"/>
          </a:xfrm>
          <a:prstGeom prst="rect">
            <a:avLst/>
          </a:prstGeom>
        </p:spPr>
      </p:pic>
      <p:pic>
        <p:nvPicPr>
          <p:cNvPr id="31" name="planet_30" descr="Sub-Neptune with gas envelope"/>
          <p:cNvPicPr>
            <a:picLocks noChangeAspect="1"/>
          </p:cNvPicPr>
          <p:nvPr/>
        </p:nvPicPr>
        <p:blipFill>
          <a:blip r:embed="rId4"/>
          <a:stretch>
            <a:fillRect/>
          </a:stretch>
        </p:blipFill>
        <p:spPr>
          <a:xfrm>
            <a:off x="7139179" y="2633472"/>
            <a:ext cx="2514600" cy="2514600"/>
          </a:xfrm>
          <a:prstGeom prst="rect">
            <a:avLst/>
          </a:prstGeom>
        </p:spPr>
      </p:pic>
      <p:sp>
        <p:nvSpPr>
          <p:cNvPr id="32" name="text_31"/>
          <p:cNvSpPr txBox="1"/>
          <p:nvPr/>
        </p:nvSpPr>
        <p:spPr>
          <a:xfrm>
            <a:off x="548640" y="2011680"/>
            <a:ext cx="2377440" cy="36576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Super-Earths</a:t>
            </a:r>
            <a:endParaRPr lang="en-US" sz="2200" dirty="0"/>
          </a:p>
        </p:txBody>
      </p:sp>
      <p:sp>
        <p:nvSpPr>
          <p:cNvPr id="33" name="text_32"/>
          <p:cNvSpPr txBox="1"/>
          <p:nvPr/>
        </p:nvSpPr>
        <p:spPr>
          <a:xfrm>
            <a:off x="548640" y="2423160"/>
            <a:ext cx="2377440" cy="320040"/>
          </a:xfrm>
          <a:prstGeom prst="rect">
            <a:avLst/>
          </a:prstGeom>
          <a:noFill/>
          <a:ln/>
        </p:spPr>
        <p:txBody>
          <a:bodyPr wrap="square" lIns="0" tIns="0" rIns="0" bIns="0" rtlCol="0" anchor="t"/>
          <a:lstStyle/>
          <a:p>
            <a:pPr marL="0" indent="0">
              <a:buNone/>
            </a:pPr>
            <a:r>
              <a:rPr lang="en-US" sz="1500" dirty="0">
                <a:solidFill>
                  <a:schemeClr val="accent5"/>
                </a:solidFill>
              </a:rPr>
              <a:t>rocky, envelope stripped</a:t>
            </a:r>
            <a:endParaRPr lang="en-US" sz="1500" dirty="0"/>
          </a:p>
        </p:txBody>
      </p:sp>
      <p:sp>
        <p:nvSpPr>
          <p:cNvPr id="34" name="text_33"/>
          <p:cNvSpPr txBox="1"/>
          <p:nvPr/>
        </p:nvSpPr>
        <p:spPr>
          <a:xfrm>
            <a:off x="9144000" y="2011680"/>
            <a:ext cx="2496312" cy="365760"/>
          </a:xfrm>
          <a:prstGeom prst="rect">
            <a:avLst/>
          </a:prstGeom>
          <a:noFill/>
          <a:ln/>
        </p:spPr>
        <p:txBody>
          <a:bodyPr wrap="square" lIns="0" tIns="0" rIns="0" bIns="0" rtlCol="0" anchor="t"/>
          <a:lstStyle/>
          <a:p>
            <a:pPr marL="0" indent="0" algn="r">
              <a:buNone/>
            </a:pPr>
            <a:r>
              <a:rPr lang="en-US" sz="2200" b="1" dirty="0">
                <a:solidFill>
                  <a:schemeClr val="accent1"/>
                </a:solidFill>
                <a:latin typeface="Cambria" pitchFamily="34" charset="0"/>
                <a:ea typeface="Cambria" pitchFamily="34" charset="-122"/>
                <a:cs typeface="Cambria" pitchFamily="34" charset="-120"/>
              </a:rPr>
              <a:t>Sub-Neptunes</a:t>
            </a:r>
            <a:endParaRPr lang="en-US" sz="2200" dirty="0"/>
          </a:p>
        </p:txBody>
      </p:sp>
      <p:sp>
        <p:nvSpPr>
          <p:cNvPr id="35" name="text_34"/>
          <p:cNvSpPr txBox="1"/>
          <p:nvPr/>
        </p:nvSpPr>
        <p:spPr>
          <a:xfrm>
            <a:off x="9144000" y="2423160"/>
            <a:ext cx="2496312" cy="320040"/>
          </a:xfrm>
          <a:prstGeom prst="rect">
            <a:avLst/>
          </a:prstGeom>
          <a:noFill/>
          <a:ln/>
        </p:spPr>
        <p:txBody>
          <a:bodyPr wrap="square" lIns="0" tIns="0" rIns="0" bIns="0" rtlCol="0" anchor="t"/>
          <a:lstStyle/>
          <a:p>
            <a:pPr marL="0" indent="0" algn="r">
              <a:buNone/>
            </a:pPr>
            <a:r>
              <a:rPr lang="en-US" sz="1500" dirty="0">
                <a:solidFill>
                  <a:schemeClr val="accent5"/>
                </a:solidFill>
              </a:rPr>
              <a:t>core + gas envelope</a:t>
            </a:r>
            <a:endParaRPr lang="en-US" sz="1500" dirty="0"/>
          </a:p>
        </p:txBody>
      </p:sp>
      <p:sp>
        <p:nvSpPr>
          <p:cNvPr id="36" name="text_35"/>
          <p:cNvSpPr txBox="1"/>
          <p:nvPr/>
        </p:nvSpPr>
        <p:spPr>
          <a:xfrm>
            <a:off x="548640" y="5943600"/>
            <a:ext cx="7315200" cy="274320"/>
          </a:xfrm>
          <a:prstGeom prst="rect">
            <a:avLst/>
          </a:prstGeom>
          <a:noFill/>
          <a:ln/>
        </p:spPr>
        <p:txBody>
          <a:bodyPr wrap="square" lIns="0" tIns="0" rIns="0" bIns="0" rtlCol="0" anchor="t"/>
          <a:lstStyle/>
          <a:p>
            <a:pPr marL="0" indent="0">
              <a:buNone/>
            </a:pPr>
            <a:r>
              <a:rPr lang="en-US" sz="1200" dirty="0">
                <a:solidFill>
                  <a:schemeClr val="bg2"/>
                </a:solidFill>
              </a:rPr>
              <a:t>First resolved by Fulton et al. (2017), California-Kepler Survey</a:t>
            </a:r>
            <a:endParaRPr lang="en-US" sz="1200" dirty="0"/>
          </a:p>
        </p:txBody>
      </p:sp>
      <p:sp>
        <p:nvSpPr>
          <p:cNvPr id="37"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WHY IT MATTERS</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Two theories, one testable prediction</a:t>
            </a:r>
            <a:endParaRPr lang="en-US" sz="3400" dirty="0"/>
          </a:p>
        </p:txBody>
      </p:sp>
      <p:sp>
        <p:nvSpPr>
          <p:cNvPr id="4" name="orbit_36"/>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37"/>
          <p:cNvSpPr/>
          <p:nvPr/>
        </p:nvSpPr>
        <p:spPr>
          <a:xfrm>
            <a:off x="9174175"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6" name="orbit_dot_38"/>
          <p:cNvSpPr/>
          <p:nvPr/>
        </p:nvSpPr>
        <p:spPr>
          <a:xfrm>
            <a:off x="960241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7" name="orbit_dot_39"/>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40"/>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41"/>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42"/>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43"/>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44"/>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CONTEXT</a:t>
            </a:r>
            <a:endParaRPr lang="en-US" sz="900" dirty="0"/>
          </a:p>
        </p:txBody>
      </p:sp>
      <p:sp>
        <p:nvSpPr>
          <p:cNvPr id="13" name="card_45"/>
          <p:cNvSpPr/>
          <p:nvPr/>
        </p:nvSpPr>
        <p:spPr>
          <a:xfrm>
            <a:off x="548640" y="1737360"/>
            <a:ext cx="5349240" cy="2377440"/>
          </a:xfrm>
          <a:prstGeom prst="roundRect">
            <a:avLst>
              <a:gd name="adj" fmla="val 4615"/>
            </a:avLst>
          </a:prstGeom>
          <a:solidFill>
            <a:schemeClr val="tx2">
              <a:alpha val="82000"/>
            </a:schemeClr>
          </a:solidFill>
          <a:ln w="9525">
            <a:solidFill>
              <a:schemeClr val="accent6"/>
            </a:solidFill>
            <a:prstDash val="solid"/>
          </a:ln>
        </p:spPr>
        <p:txBody>
          <a:bodyPr/>
          <a:lstStyle/>
          <a:p>
            <a:endParaRPr lang="mk-MK"/>
          </a:p>
        </p:txBody>
      </p:sp>
      <p:pic>
        <p:nvPicPr>
          <p:cNvPr id="14" name="icon_46" descr="/home/claude/work/art/star.png"/>
          <p:cNvPicPr>
            <a:picLocks noChangeAspect="1"/>
          </p:cNvPicPr>
          <p:nvPr/>
        </p:nvPicPr>
        <p:blipFill>
          <a:blip r:embed="rId3"/>
          <a:stretch>
            <a:fillRect/>
          </a:stretch>
        </p:blipFill>
        <p:spPr>
          <a:xfrm>
            <a:off x="685800" y="2240280"/>
            <a:ext cx="1371600" cy="1371600"/>
          </a:xfrm>
          <a:prstGeom prst="rect">
            <a:avLst/>
          </a:prstGeom>
        </p:spPr>
      </p:pic>
      <p:pic>
        <p:nvPicPr>
          <p:cNvPr id="15" name="icon_47" descr="/home/claude/work/art/p_neptune.png"/>
          <p:cNvPicPr>
            <a:picLocks noChangeAspect="1"/>
          </p:cNvPicPr>
          <p:nvPr/>
        </p:nvPicPr>
        <p:blipFill>
          <a:blip r:embed="rId4"/>
          <a:stretch>
            <a:fillRect/>
          </a:stretch>
        </p:blipFill>
        <p:spPr>
          <a:xfrm>
            <a:off x="1874520" y="2633472"/>
            <a:ext cx="594360" cy="594360"/>
          </a:xfrm>
          <a:prstGeom prst="rect">
            <a:avLst/>
          </a:prstGeom>
        </p:spPr>
      </p:pic>
      <p:sp>
        <p:nvSpPr>
          <p:cNvPr id="16" name="text_48"/>
          <p:cNvSpPr txBox="1"/>
          <p:nvPr/>
        </p:nvSpPr>
        <p:spPr>
          <a:xfrm>
            <a:off x="2697480" y="2240280"/>
            <a:ext cx="3017520" cy="411480"/>
          </a:xfrm>
          <a:prstGeom prst="rect">
            <a:avLst/>
          </a:prstGeom>
          <a:noFill/>
          <a:ln/>
        </p:spPr>
        <p:txBody>
          <a:bodyPr wrap="square" lIns="0" tIns="0" rIns="0" bIns="0" rtlCol="0" anchor="t"/>
          <a:lstStyle/>
          <a:p>
            <a:pPr marL="0" indent="0">
              <a:buNone/>
            </a:pPr>
            <a:r>
              <a:rPr lang="en-US" sz="2100" b="1" dirty="0">
                <a:solidFill>
                  <a:schemeClr val="bg1"/>
                </a:solidFill>
                <a:latin typeface="Cambria" pitchFamily="34" charset="0"/>
                <a:ea typeface="Cambria" pitchFamily="34" charset="-122"/>
                <a:cs typeface="Cambria" pitchFamily="34" charset="-120"/>
              </a:rPr>
              <a:t>Photoevaporation</a:t>
            </a:r>
            <a:endParaRPr lang="en-US" sz="2100" dirty="0"/>
          </a:p>
        </p:txBody>
      </p:sp>
      <p:sp>
        <p:nvSpPr>
          <p:cNvPr id="17" name="text_49"/>
          <p:cNvSpPr txBox="1"/>
          <p:nvPr/>
        </p:nvSpPr>
        <p:spPr>
          <a:xfrm>
            <a:off x="2697480" y="2743200"/>
            <a:ext cx="2971800" cy="1005840"/>
          </a:xfrm>
          <a:prstGeom prst="rect">
            <a:avLst/>
          </a:prstGeom>
          <a:noFill/>
          <a:ln/>
        </p:spPr>
        <p:txBody>
          <a:bodyPr wrap="square" lIns="0" tIns="0" rIns="0" bIns="0" rtlCol="0" anchor="t"/>
          <a:lstStyle/>
          <a:p>
            <a:pPr marL="0" indent="0">
              <a:buNone/>
            </a:pPr>
            <a:r>
              <a:rPr lang="en-US" sz="1600" dirty="0">
                <a:solidFill>
                  <a:schemeClr val="accent5"/>
                </a:solidFill>
              </a:rPr>
              <a:t>Starlight strips the envelope in the first ~100 million years.</a:t>
            </a:r>
            <a:endParaRPr lang="en-US" sz="1600" dirty="0"/>
          </a:p>
        </p:txBody>
      </p:sp>
      <p:sp>
        <p:nvSpPr>
          <p:cNvPr id="18" name="card_50"/>
          <p:cNvSpPr/>
          <p:nvPr/>
        </p:nvSpPr>
        <p:spPr>
          <a:xfrm>
            <a:off x="6291072" y="1737360"/>
            <a:ext cx="5349240" cy="2377440"/>
          </a:xfrm>
          <a:prstGeom prst="roundRect">
            <a:avLst>
              <a:gd name="adj" fmla="val 4615"/>
            </a:avLst>
          </a:prstGeom>
          <a:solidFill>
            <a:schemeClr val="tx2">
              <a:alpha val="82000"/>
            </a:schemeClr>
          </a:solidFill>
          <a:ln w="9525">
            <a:solidFill>
              <a:schemeClr val="accent6"/>
            </a:solidFill>
            <a:prstDash val="solid"/>
          </a:ln>
        </p:spPr>
        <p:txBody>
          <a:bodyPr/>
          <a:lstStyle/>
          <a:p>
            <a:endParaRPr lang="mk-MK"/>
          </a:p>
        </p:txBody>
      </p:sp>
      <p:pic>
        <p:nvPicPr>
          <p:cNvPr id="19" name="icon_51" descr="/home/claude/work/art/p_core.png"/>
          <p:cNvPicPr>
            <a:picLocks noChangeAspect="1"/>
          </p:cNvPicPr>
          <p:nvPr/>
        </p:nvPicPr>
        <p:blipFill>
          <a:blip r:embed="rId5"/>
          <a:stretch>
            <a:fillRect/>
          </a:stretch>
        </p:blipFill>
        <p:spPr>
          <a:xfrm>
            <a:off x="6793992" y="2514600"/>
            <a:ext cx="822960" cy="822960"/>
          </a:xfrm>
          <a:prstGeom prst="rect">
            <a:avLst/>
          </a:prstGeom>
        </p:spPr>
      </p:pic>
      <p:sp>
        <p:nvSpPr>
          <p:cNvPr id="20" name="text_52"/>
          <p:cNvSpPr txBox="1"/>
          <p:nvPr/>
        </p:nvSpPr>
        <p:spPr>
          <a:xfrm>
            <a:off x="8439912" y="2240280"/>
            <a:ext cx="3017520" cy="411480"/>
          </a:xfrm>
          <a:prstGeom prst="rect">
            <a:avLst/>
          </a:prstGeom>
          <a:noFill/>
          <a:ln/>
        </p:spPr>
        <p:txBody>
          <a:bodyPr wrap="square" lIns="0" tIns="0" rIns="0" bIns="0" rtlCol="0" anchor="t"/>
          <a:lstStyle/>
          <a:p>
            <a:pPr marL="0" indent="0">
              <a:buNone/>
            </a:pPr>
            <a:r>
              <a:rPr lang="en-US" sz="2100" b="1" dirty="0">
                <a:solidFill>
                  <a:schemeClr val="bg1"/>
                </a:solidFill>
                <a:latin typeface="Cambria" pitchFamily="34" charset="0"/>
                <a:ea typeface="Cambria" pitchFamily="34" charset="-122"/>
                <a:cs typeface="Cambria" pitchFamily="34" charset="-120"/>
              </a:rPr>
              <a:t>Core-powered mass loss</a:t>
            </a:r>
            <a:endParaRPr lang="en-US" sz="2100" dirty="0"/>
          </a:p>
        </p:txBody>
      </p:sp>
      <p:sp>
        <p:nvSpPr>
          <p:cNvPr id="21" name="text_53"/>
          <p:cNvSpPr txBox="1"/>
          <p:nvPr/>
        </p:nvSpPr>
        <p:spPr>
          <a:xfrm>
            <a:off x="8439912" y="2743200"/>
            <a:ext cx="2971800" cy="1005840"/>
          </a:xfrm>
          <a:prstGeom prst="rect">
            <a:avLst/>
          </a:prstGeom>
          <a:noFill/>
          <a:ln/>
        </p:spPr>
        <p:txBody>
          <a:bodyPr wrap="square" lIns="0" tIns="0" rIns="0" bIns="0" rtlCol="0" anchor="t"/>
          <a:lstStyle/>
          <a:p>
            <a:pPr marL="0" indent="0">
              <a:buNone/>
            </a:pPr>
            <a:r>
              <a:rPr lang="en-US" sz="1600" dirty="0">
                <a:solidFill>
                  <a:schemeClr val="accent5"/>
                </a:solidFill>
              </a:rPr>
              <a:t>The planet’s own heat drives it off over billions of years.</a:t>
            </a:r>
            <a:endParaRPr lang="en-US" sz="1600" dirty="0"/>
          </a:p>
        </p:txBody>
      </p:sp>
      <p:sp>
        <p:nvSpPr>
          <p:cNvPr id="22" name="card_54"/>
          <p:cNvSpPr/>
          <p:nvPr/>
        </p:nvSpPr>
        <p:spPr>
          <a:xfrm>
            <a:off x="548640" y="4526280"/>
            <a:ext cx="11094415" cy="1463040"/>
          </a:xfrm>
          <a:prstGeom prst="roundRect">
            <a:avLst>
              <a:gd name="adj" fmla="val 7500"/>
            </a:avLst>
          </a:prstGeom>
          <a:solidFill>
            <a:schemeClr val="accent3">
              <a:alpha val="10000"/>
            </a:schemeClr>
          </a:solidFill>
          <a:ln w="9525">
            <a:solidFill>
              <a:schemeClr val="accent3"/>
            </a:solidFill>
            <a:prstDash val="solid"/>
          </a:ln>
        </p:spPr>
        <p:txBody>
          <a:bodyPr/>
          <a:lstStyle/>
          <a:p>
            <a:endParaRPr lang="mk-MK"/>
          </a:p>
        </p:txBody>
      </p:sp>
      <p:sp>
        <p:nvSpPr>
          <p:cNvPr id="23" name="text_55"/>
          <p:cNvSpPr txBox="1"/>
          <p:nvPr/>
        </p:nvSpPr>
        <p:spPr>
          <a:xfrm>
            <a:off x="914400" y="4800600"/>
            <a:ext cx="2743200" cy="274320"/>
          </a:xfrm>
          <a:prstGeom prst="rect">
            <a:avLst/>
          </a:prstGeom>
          <a:noFill/>
          <a:ln/>
        </p:spPr>
        <p:txBody>
          <a:bodyPr wrap="square" lIns="0" tIns="0" rIns="0" bIns="0" rtlCol="0" anchor="t"/>
          <a:lstStyle/>
          <a:p>
            <a:pPr marL="0" indent="0">
              <a:buNone/>
            </a:pPr>
            <a:r>
              <a:rPr lang="en-US" sz="1200" b="1" kern="0" spc="300" dirty="0">
                <a:solidFill>
                  <a:schemeClr val="accent3"/>
                </a:solidFill>
              </a:rPr>
              <a:t>BOTH PREDICT</a:t>
            </a:r>
            <a:endParaRPr lang="en-US" sz="1200" dirty="0"/>
          </a:p>
        </p:txBody>
      </p:sp>
      <p:sp>
        <p:nvSpPr>
          <p:cNvPr id="24" name="text_56"/>
          <p:cNvSpPr txBox="1"/>
          <p:nvPr/>
        </p:nvSpPr>
        <p:spPr>
          <a:xfrm>
            <a:off x="914400" y="5148072"/>
            <a:ext cx="10362895" cy="50292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Short orbits → </a:t>
            </a:r>
            <a:r>
              <a:rPr lang="en-US" sz="2400" b="1" dirty="0">
                <a:solidFill>
                  <a:schemeClr val="accent2"/>
                </a:solidFill>
                <a:latin typeface="Cambria" pitchFamily="34" charset="0"/>
                <a:ea typeface="Cambria" pitchFamily="34" charset="-122"/>
                <a:cs typeface="Cambria" pitchFamily="34" charset="-120"/>
              </a:rPr>
              <a:t>below the gap</a:t>
            </a:r>
            <a:r>
              <a:rPr lang="en-US" sz="2400" b="1" dirty="0">
                <a:solidFill>
                  <a:schemeClr val="bg1"/>
                </a:solidFill>
                <a:latin typeface="Cambria" pitchFamily="34" charset="0"/>
                <a:ea typeface="Cambria" pitchFamily="34" charset="-122"/>
                <a:cs typeface="Cambria" pitchFamily="34" charset="-120"/>
              </a:rPr>
              <a:t>      Long orbits → </a:t>
            </a:r>
            <a:r>
              <a:rPr lang="en-US" sz="2400" b="1" dirty="0">
                <a:solidFill>
                  <a:schemeClr val="accent1"/>
                </a:solidFill>
                <a:latin typeface="Cambria" pitchFamily="34" charset="0"/>
                <a:ea typeface="Cambria" pitchFamily="34" charset="-122"/>
                <a:cs typeface="Cambria" pitchFamily="34" charset="-120"/>
              </a:rPr>
              <a:t>above the gap</a:t>
            </a:r>
            <a:endParaRPr lang="en-US" sz="2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SCOPE</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Four research questions</a:t>
            </a:r>
            <a:endParaRPr lang="en-US" sz="3400" dirty="0"/>
          </a:p>
        </p:txBody>
      </p:sp>
      <p:sp>
        <p:nvSpPr>
          <p:cNvPr id="4" name="orbit_57"/>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58"/>
          <p:cNvSpPr/>
          <p:nvPr/>
        </p:nvSpPr>
        <p:spPr>
          <a:xfrm>
            <a:off x="9174175"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6" name="orbit_dot_59"/>
          <p:cNvSpPr/>
          <p:nvPr/>
        </p:nvSpPr>
        <p:spPr>
          <a:xfrm>
            <a:off x="960241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7" name="orbit_dot_60"/>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61"/>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62"/>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63"/>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64"/>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65"/>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CONTEXT</a:t>
            </a:r>
            <a:endParaRPr lang="en-US" sz="900" dirty="0"/>
          </a:p>
        </p:txBody>
      </p:sp>
      <p:sp>
        <p:nvSpPr>
          <p:cNvPr id="13" name="orbit_big_66"/>
          <p:cNvSpPr/>
          <p:nvPr/>
        </p:nvSpPr>
        <p:spPr>
          <a:xfrm>
            <a:off x="228600" y="1783080"/>
            <a:ext cx="11734495" cy="2011680"/>
          </a:xfrm>
          <a:prstGeom prst="ellipse">
            <a:avLst/>
          </a:prstGeom>
          <a:ln w="15875">
            <a:solidFill>
              <a:schemeClr val="accent6"/>
            </a:solidFill>
            <a:prstDash val="solid"/>
          </a:ln>
        </p:spPr>
        <p:txBody>
          <a:bodyPr/>
          <a:lstStyle/>
          <a:p>
            <a:endParaRPr lang="mk-MK"/>
          </a:p>
        </p:txBody>
      </p:sp>
      <p:sp>
        <p:nvSpPr>
          <p:cNvPr id="14" name="qplanet_67"/>
          <p:cNvSpPr/>
          <p:nvPr/>
        </p:nvSpPr>
        <p:spPr>
          <a:xfrm>
            <a:off x="1623060" y="3254813"/>
            <a:ext cx="457200" cy="457200"/>
          </a:xfrm>
          <a:prstGeom prst="ellipse">
            <a:avLst/>
          </a:prstGeom>
          <a:solidFill>
            <a:schemeClr val="accent2"/>
          </a:solidFill>
          <a:ln w="6350">
            <a:solidFill>
              <a:schemeClr val="accent2"/>
            </a:solidFill>
            <a:prstDash val="solid"/>
          </a:ln>
        </p:spPr>
        <p:txBody>
          <a:bodyPr/>
          <a:lstStyle/>
          <a:p>
            <a:endParaRPr lang="mk-MK"/>
          </a:p>
        </p:txBody>
      </p:sp>
      <p:sp>
        <p:nvSpPr>
          <p:cNvPr id="15" name="text_68"/>
          <p:cNvSpPr txBox="1"/>
          <p:nvPr/>
        </p:nvSpPr>
        <p:spPr>
          <a:xfrm>
            <a:off x="1623060" y="3254813"/>
            <a:ext cx="457200" cy="457200"/>
          </a:xfrm>
          <a:prstGeom prst="rect">
            <a:avLst/>
          </a:prstGeom>
          <a:noFill/>
          <a:ln/>
        </p:spPr>
        <p:txBody>
          <a:bodyPr wrap="square" lIns="0" tIns="0" rIns="0" bIns="0" rtlCol="0" anchor="ctr"/>
          <a:lstStyle/>
          <a:p>
            <a:pPr marL="0" indent="0" algn="ctr">
              <a:buNone/>
            </a:pPr>
            <a:r>
              <a:rPr lang="en-US" sz="1400" b="1" dirty="0">
                <a:solidFill>
                  <a:schemeClr val="tx1"/>
                </a:solidFill>
              </a:rPr>
              <a:t>Q1</a:t>
            </a:r>
            <a:endParaRPr lang="en-US" sz="1400" dirty="0"/>
          </a:p>
        </p:txBody>
      </p:sp>
      <p:sp>
        <p:nvSpPr>
          <p:cNvPr id="16" name="text_69"/>
          <p:cNvSpPr txBox="1"/>
          <p:nvPr/>
        </p:nvSpPr>
        <p:spPr>
          <a:xfrm>
            <a:off x="548640" y="4617720"/>
            <a:ext cx="2606040" cy="411480"/>
          </a:xfrm>
          <a:prstGeom prst="rect">
            <a:avLst/>
          </a:prstGeom>
          <a:noFill/>
          <a:ln/>
        </p:spPr>
        <p:txBody>
          <a:bodyPr wrap="square" lIns="0" tIns="0" rIns="0" bIns="0" rtlCol="0" anchor="t"/>
          <a:lstStyle/>
          <a:p>
            <a:pPr marL="0" indent="0" algn="ctr">
              <a:buNone/>
            </a:pPr>
            <a:r>
              <a:rPr lang="en-US" sz="2100" b="1" dirty="0">
                <a:solidFill>
                  <a:schemeClr val="accent2"/>
                </a:solidFill>
                <a:latin typeface="Cambria" pitchFamily="34" charset="0"/>
                <a:ea typeface="Cambria" pitchFamily="34" charset="-122"/>
                <a:cs typeface="Cambria" pitchFamily="34" charset="-120"/>
              </a:rPr>
              <a:t>Is there a gap?</a:t>
            </a:r>
            <a:endParaRPr lang="en-US" sz="2100" dirty="0"/>
          </a:p>
        </p:txBody>
      </p:sp>
      <p:sp>
        <p:nvSpPr>
          <p:cNvPr id="17" name="text_70"/>
          <p:cNvSpPr txBox="1"/>
          <p:nvPr/>
        </p:nvSpPr>
        <p:spPr>
          <a:xfrm>
            <a:off x="548640" y="5074920"/>
            <a:ext cx="2606040" cy="320040"/>
          </a:xfrm>
          <a:prstGeom prst="rect">
            <a:avLst/>
          </a:prstGeom>
          <a:noFill/>
          <a:ln/>
        </p:spPr>
        <p:txBody>
          <a:bodyPr wrap="square" lIns="0" tIns="0" rIns="0" bIns="0" rtlCol="0" anchor="t"/>
          <a:lstStyle/>
          <a:p>
            <a:pPr marL="0" indent="0" algn="ctr">
              <a:buNone/>
            </a:pPr>
            <a:r>
              <a:rPr lang="en-US" sz="1500" dirty="0">
                <a:solidFill>
                  <a:schemeClr val="accent5"/>
                </a:solidFill>
              </a:rPr>
              <a:t>and where does it sit</a:t>
            </a:r>
            <a:endParaRPr lang="en-US" sz="1500" dirty="0"/>
          </a:p>
        </p:txBody>
      </p:sp>
      <p:sp>
        <p:nvSpPr>
          <p:cNvPr id="18" name="qplanet_71"/>
          <p:cNvSpPr/>
          <p:nvPr/>
        </p:nvSpPr>
        <p:spPr>
          <a:xfrm>
            <a:off x="4397654" y="3481618"/>
            <a:ext cx="566928" cy="566928"/>
          </a:xfrm>
          <a:prstGeom prst="ellipse">
            <a:avLst/>
          </a:prstGeom>
          <a:solidFill>
            <a:schemeClr val="accent3"/>
          </a:solidFill>
          <a:ln w="6350">
            <a:solidFill>
              <a:schemeClr val="accent3"/>
            </a:solidFill>
            <a:prstDash val="solid"/>
          </a:ln>
        </p:spPr>
        <p:txBody>
          <a:bodyPr/>
          <a:lstStyle/>
          <a:p>
            <a:endParaRPr lang="mk-MK"/>
          </a:p>
        </p:txBody>
      </p:sp>
      <p:sp>
        <p:nvSpPr>
          <p:cNvPr id="19" name="text_72"/>
          <p:cNvSpPr txBox="1"/>
          <p:nvPr/>
        </p:nvSpPr>
        <p:spPr>
          <a:xfrm>
            <a:off x="4397654" y="3481618"/>
            <a:ext cx="566928" cy="566928"/>
          </a:xfrm>
          <a:prstGeom prst="rect">
            <a:avLst/>
          </a:prstGeom>
          <a:noFill/>
          <a:ln/>
        </p:spPr>
        <p:txBody>
          <a:bodyPr wrap="square" lIns="0" tIns="0" rIns="0" bIns="0" rtlCol="0" anchor="ctr"/>
          <a:lstStyle/>
          <a:p>
            <a:pPr marL="0" indent="0" algn="ctr">
              <a:buNone/>
            </a:pPr>
            <a:r>
              <a:rPr lang="en-US" sz="1400" b="1" dirty="0">
                <a:solidFill>
                  <a:schemeClr val="tx1"/>
                </a:solidFill>
              </a:rPr>
              <a:t>Q2</a:t>
            </a:r>
            <a:endParaRPr lang="en-US" sz="1400" dirty="0"/>
          </a:p>
        </p:txBody>
      </p:sp>
      <p:sp>
        <p:nvSpPr>
          <p:cNvPr id="20" name="text_73"/>
          <p:cNvSpPr txBox="1"/>
          <p:nvPr/>
        </p:nvSpPr>
        <p:spPr>
          <a:xfrm>
            <a:off x="3378098" y="4617720"/>
            <a:ext cx="2606040" cy="411480"/>
          </a:xfrm>
          <a:prstGeom prst="rect">
            <a:avLst/>
          </a:prstGeom>
          <a:noFill/>
          <a:ln/>
        </p:spPr>
        <p:txBody>
          <a:bodyPr wrap="square" lIns="0" tIns="0" rIns="0" bIns="0" rtlCol="0" anchor="t"/>
          <a:lstStyle/>
          <a:p>
            <a:pPr marL="0" indent="0" algn="ctr">
              <a:buNone/>
            </a:pPr>
            <a:r>
              <a:rPr lang="en-US" sz="2100" b="1" dirty="0">
                <a:solidFill>
                  <a:schemeClr val="accent3"/>
                </a:solidFill>
                <a:latin typeface="Cambria" pitchFamily="34" charset="0"/>
                <a:ea typeface="Cambria" pitchFamily="34" charset="-122"/>
                <a:cs typeface="Cambria" pitchFamily="34" charset="-120"/>
              </a:rPr>
              <a:t>Do the tests agree?</a:t>
            </a:r>
            <a:endParaRPr lang="en-US" sz="2100" dirty="0"/>
          </a:p>
        </p:txBody>
      </p:sp>
      <p:sp>
        <p:nvSpPr>
          <p:cNvPr id="21" name="text_74"/>
          <p:cNvSpPr txBox="1"/>
          <p:nvPr/>
        </p:nvSpPr>
        <p:spPr>
          <a:xfrm>
            <a:off x="3378098" y="5074920"/>
            <a:ext cx="2606040" cy="320040"/>
          </a:xfrm>
          <a:prstGeom prst="rect">
            <a:avLst/>
          </a:prstGeom>
          <a:noFill/>
          <a:ln/>
        </p:spPr>
        <p:txBody>
          <a:bodyPr wrap="square" lIns="0" tIns="0" rIns="0" bIns="0" rtlCol="0" anchor="t"/>
          <a:lstStyle/>
          <a:p>
            <a:pPr marL="0" indent="0" algn="ctr">
              <a:buNone/>
            </a:pPr>
            <a:r>
              <a:rPr lang="en-US" sz="1500" dirty="0">
                <a:solidFill>
                  <a:schemeClr val="accent5"/>
                </a:solidFill>
              </a:rPr>
              <a:t>formal tests of modality</a:t>
            </a:r>
            <a:endParaRPr lang="en-US" sz="1500" dirty="0"/>
          </a:p>
        </p:txBody>
      </p:sp>
      <p:sp>
        <p:nvSpPr>
          <p:cNvPr id="22" name="qplanet_75"/>
          <p:cNvSpPr/>
          <p:nvPr/>
        </p:nvSpPr>
        <p:spPr>
          <a:xfrm>
            <a:off x="7172249" y="3426754"/>
            <a:ext cx="676656" cy="676656"/>
          </a:xfrm>
          <a:prstGeom prst="ellipse">
            <a:avLst/>
          </a:prstGeom>
          <a:solidFill>
            <a:schemeClr val="accent4"/>
          </a:solidFill>
          <a:ln w="6350">
            <a:solidFill>
              <a:schemeClr val="accent4"/>
            </a:solidFill>
            <a:prstDash val="solid"/>
          </a:ln>
        </p:spPr>
        <p:txBody>
          <a:bodyPr/>
          <a:lstStyle/>
          <a:p>
            <a:endParaRPr lang="mk-MK"/>
          </a:p>
        </p:txBody>
      </p:sp>
      <p:sp>
        <p:nvSpPr>
          <p:cNvPr id="23" name="text_76"/>
          <p:cNvSpPr txBox="1"/>
          <p:nvPr/>
        </p:nvSpPr>
        <p:spPr>
          <a:xfrm>
            <a:off x="7172249" y="3426754"/>
            <a:ext cx="676656" cy="676656"/>
          </a:xfrm>
          <a:prstGeom prst="rect">
            <a:avLst/>
          </a:prstGeom>
          <a:noFill/>
          <a:ln/>
        </p:spPr>
        <p:txBody>
          <a:bodyPr wrap="square" lIns="0" tIns="0" rIns="0" bIns="0" rtlCol="0" anchor="ctr"/>
          <a:lstStyle/>
          <a:p>
            <a:pPr marL="0" indent="0" algn="ctr">
              <a:buNone/>
            </a:pPr>
            <a:r>
              <a:rPr lang="en-US" sz="1400" b="1" dirty="0">
                <a:solidFill>
                  <a:schemeClr val="tx1"/>
                </a:solidFill>
              </a:rPr>
              <a:t>Q3</a:t>
            </a:r>
            <a:endParaRPr lang="en-US" sz="1400" dirty="0"/>
          </a:p>
        </p:txBody>
      </p:sp>
      <p:sp>
        <p:nvSpPr>
          <p:cNvPr id="24" name="text_77"/>
          <p:cNvSpPr txBox="1"/>
          <p:nvPr/>
        </p:nvSpPr>
        <p:spPr>
          <a:xfrm>
            <a:off x="6207557" y="4617720"/>
            <a:ext cx="2606040" cy="411480"/>
          </a:xfrm>
          <a:prstGeom prst="rect">
            <a:avLst/>
          </a:prstGeom>
          <a:noFill/>
          <a:ln/>
        </p:spPr>
        <p:txBody>
          <a:bodyPr wrap="square" lIns="0" tIns="0" rIns="0" bIns="0" rtlCol="0" anchor="t"/>
          <a:lstStyle/>
          <a:p>
            <a:pPr marL="0" indent="0" algn="ctr">
              <a:buNone/>
            </a:pPr>
            <a:r>
              <a:rPr lang="en-US" sz="2100" b="1" dirty="0">
                <a:solidFill>
                  <a:schemeClr val="accent4"/>
                </a:solidFill>
                <a:latin typeface="Cambria" pitchFamily="34" charset="0"/>
                <a:ea typeface="Cambria" pitchFamily="34" charset="-122"/>
                <a:cs typeface="Cambria" pitchFamily="34" charset="-120"/>
              </a:rPr>
              <a:t>What predicts it?</a:t>
            </a:r>
            <a:endParaRPr lang="en-US" sz="2100" dirty="0"/>
          </a:p>
        </p:txBody>
      </p:sp>
      <p:sp>
        <p:nvSpPr>
          <p:cNvPr id="25" name="text_78"/>
          <p:cNvSpPr txBox="1"/>
          <p:nvPr/>
        </p:nvSpPr>
        <p:spPr>
          <a:xfrm>
            <a:off x="6207557" y="5074920"/>
            <a:ext cx="2606040" cy="320040"/>
          </a:xfrm>
          <a:prstGeom prst="rect">
            <a:avLst/>
          </a:prstGeom>
          <a:noFill/>
          <a:ln/>
        </p:spPr>
        <p:txBody>
          <a:bodyPr wrap="square" lIns="0" tIns="0" rIns="0" bIns="0" rtlCol="0" anchor="t"/>
          <a:lstStyle/>
          <a:p>
            <a:pPr marL="0" indent="0" algn="ctr">
              <a:buNone/>
            </a:pPr>
            <a:r>
              <a:rPr lang="en-US" sz="1500" dirty="0">
                <a:solidFill>
                  <a:schemeClr val="accent5"/>
                </a:solidFill>
              </a:rPr>
              <a:t>without using radius</a:t>
            </a:r>
            <a:endParaRPr lang="en-US" sz="1500" dirty="0"/>
          </a:p>
        </p:txBody>
      </p:sp>
      <p:sp>
        <p:nvSpPr>
          <p:cNvPr id="26" name="qplanet_79"/>
          <p:cNvSpPr/>
          <p:nvPr/>
        </p:nvSpPr>
        <p:spPr>
          <a:xfrm>
            <a:off x="9946843" y="3090221"/>
            <a:ext cx="786384" cy="786384"/>
          </a:xfrm>
          <a:prstGeom prst="ellipse">
            <a:avLst/>
          </a:prstGeom>
          <a:solidFill>
            <a:schemeClr val="accent1"/>
          </a:solidFill>
          <a:ln w="6350">
            <a:solidFill>
              <a:schemeClr val="accent1"/>
            </a:solidFill>
            <a:prstDash val="solid"/>
          </a:ln>
        </p:spPr>
        <p:txBody>
          <a:bodyPr/>
          <a:lstStyle/>
          <a:p>
            <a:endParaRPr lang="mk-MK"/>
          </a:p>
        </p:txBody>
      </p:sp>
      <p:sp>
        <p:nvSpPr>
          <p:cNvPr id="27" name="text_80"/>
          <p:cNvSpPr txBox="1"/>
          <p:nvPr/>
        </p:nvSpPr>
        <p:spPr>
          <a:xfrm>
            <a:off x="9946843" y="3090221"/>
            <a:ext cx="786384" cy="786384"/>
          </a:xfrm>
          <a:prstGeom prst="rect">
            <a:avLst/>
          </a:prstGeom>
          <a:noFill/>
          <a:ln/>
        </p:spPr>
        <p:txBody>
          <a:bodyPr wrap="square" lIns="0" tIns="0" rIns="0" bIns="0" rtlCol="0" anchor="ctr"/>
          <a:lstStyle/>
          <a:p>
            <a:pPr marL="0" indent="0" algn="ctr">
              <a:buNone/>
            </a:pPr>
            <a:r>
              <a:rPr lang="en-US" sz="1400" b="1" dirty="0">
                <a:solidFill>
                  <a:schemeClr val="tx1"/>
                </a:solidFill>
              </a:rPr>
              <a:t>Q4</a:t>
            </a:r>
            <a:endParaRPr lang="en-US" sz="1400" dirty="0"/>
          </a:p>
        </p:txBody>
      </p:sp>
      <p:sp>
        <p:nvSpPr>
          <p:cNvPr id="28" name="text_81"/>
          <p:cNvSpPr txBox="1"/>
          <p:nvPr/>
        </p:nvSpPr>
        <p:spPr>
          <a:xfrm>
            <a:off x="9037015" y="4617720"/>
            <a:ext cx="2606040" cy="411480"/>
          </a:xfrm>
          <a:prstGeom prst="rect">
            <a:avLst/>
          </a:prstGeom>
          <a:noFill/>
          <a:ln/>
        </p:spPr>
        <p:txBody>
          <a:bodyPr wrap="square" lIns="0" tIns="0" rIns="0" bIns="0" rtlCol="0" anchor="t"/>
          <a:lstStyle/>
          <a:p>
            <a:pPr marL="0" indent="0" algn="ctr">
              <a:buNone/>
            </a:pPr>
            <a:r>
              <a:rPr lang="en-US" sz="2100" b="1" dirty="0">
                <a:solidFill>
                  <a:schemeClr val="accent1"/>
                </a:solidFill>
                <a:latin typeface="Cambria" pitchFamily="34" charset="0"/>
                <a:ea typeface="Cambria" pitchFamily="34" charset="-122"/>
                <a:cs typeface="Cambria" pitchFamily="34" charset="-120"/>
              </a:rPr>
              <a:t>Does period matter?</a:t>
            </a:r>
            <a:endParaRPr lang="en-US" sz="2100" dirty="0"/>
          </a:p>
        </p:txBody>
      </p:sp>
      <p:sp>
        <p:nvSpPr>
          <p:cNvPr id="29" name="text_82"/>
          <p:cNvSpPr txBox="1"/>
          <p:nvPr/>
        </p:nvSpPr>
        <p:spPr>
          <a:xfrm>
            <a:off x="9037015" y="5074920"/>
            <a:ext cx="2606040" cy="320040"/>
          </a:xfrm>
          <a:prstGeom prst="rect">
            <a:avLst/>
          </a:prstGeom>
          <a:noFill/>
          <a:ln/>
        </p:spPr>
        <p:txBody>
          <a:bodyPr wrap="square" lIns="0" tIns="0" rIns="0" bIns="0" rtlCol="0" anchor="t"/>
          <a:lstStyle/>
          <a:p>
            <a:pPr marL="0" indent="0" algn="ctr">
              <a:buNone/>
            </a:pPr>
            <a:r>
              <a:rPr lang="en-US" sz="1500" dirty="0">
                <a:solidFill>
                  <a:schemeClr val="accent5"/>
                </a:solidFill>
              </a:rPr>
              <a:t>classical + Bayesian</a:t>
            </a:r>
            <a:endParaRPr lang="en-US" sz="1500" dirty="0"/>
          </a:p>
        </p:txBody>
      </p:sp>
      <p:sp>
        <p:nvSpPr>
          <p:cNvPr id="30"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THE SOURCE</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One archive, many ways of finding planets</a:t>
            </a:r>
            <a:endParaRPr lang="en-US" sz="3400" dirty="0"/>
          </a:p>
        </p:txBody>
      </p:sp>
      <p:sp>
        <p:nvSpPr>
          <p:cNvPr id="4" name="orbit_83"/>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84"/>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85"/>
          <p:cNvSpPr/>
          <p:nvPr/>
        </p:nvSpPr>
        <p:spPr>
          <a:xfrm>
            <a:off x="9561271"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7" name="orbit_dot_86"/>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87"/>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88"/>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89"/>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90"/>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91"/>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DATA</a:t>
            </a:r>
            <a:endParaRPr lang="en-US" sz="900" dirty="0"/>
          </a:p>
        </p:txBody>
      </p:sp>
      <p:sp>
        <p:nvSpPr>
          <p:cNvPr id="13" name="text_92"/>
          <p:cNvSpPr txBox="1"/>
          <p:nvPr/>
        </p:nvSpPr>
        <p:spPr>
          <a:xfrm>
            <a:off x="548640" y="1828800"/>
            <a:ext cx="4206240" cy="857250"/>
          </a:xfrm>
          <a:prstGeom prst="rect">
            <a:avLst/>
          </a:prstGeom>
          <a:noFill/>
          <a:ln/>
        </p:spPr>
        <p:txBody>
          <a:bodyPr wrap="square" lIns="0" tIns="0" rIns="0" bIns="0" rtlCol="0" anchor="b"/>
          <a:lstStyle/>
          <a:p>
            <a:pPr marL="0" indent="0">
              <a:buNone/>
            </a:pPr>
            <a:r>
              <a:rPr lang="en-US" sz="5400" b="1" dirty="0">
                <a:solidFill>
                  <a:schemeClr val="bg1"/>
                </a:solidFill>
                <a:latin typeface="Cambria" pitchFamily="34" charset="0"/>
                <a:ea typeface="Cambria" pitchFamily="34" charset="-122"/>
                <a:cs typeface="Cambria" pitchFamily="34" charset="-120"/>
              </a:rPr>
              <a:t>6,319</a:t>
            </a:r>
            <a:endParaRPr lang="en-US" sz="5400" dirty="0"/>
          </a:p>
        </p:txBody>
      </p:sp>
      <p:sp>
        <p:nvSpPr>
          <p:cNvPr id="14" name="text_93"/>
          <p:cNvSpPr txBox="1"/>
          <p:nvPr/>
        </p:nvSpPr>
        <p:spPr>
          <a:xfrm>
            <a:off x="548640" y="2722626"/>
            <a:ext cx="4206240" cy="320040"/>
          </a:xfrm>
          <a:prstGeom prst="rect">
            <a:avLst/>
          </a:prstGeom>
          <a:noFill/>
          <a:ln/>
        </p:spPr>
        <p:txBody>
          <a:bodyPr wrap="square" lIns="0" tIns="0" rIns="0" bIns="0" rtlCol="0" anchor="t"/>
          <a:lstStyle/>
          <a:p>
            <a:pPr marL="0" indent="0">
              <a:buNone/>
            </a:pPr>
            <a:r>
              <a:rPr lang="en-US" sz="1300" dirty="0">
                <a:solidFill>
                  <a:schemeClr val="bg2"/>
                </a:solidFill>
              </a:rPr>
              <a:t>confirmed planets · 84 parameters each</a:t>
            </a:r>
            <a:endParaRPr lang="en-US" sz="1300" dirty="0"/>
          </a:p>
        </p:txBody>
      </p:sp>
      <p:sp>
        <p:nvSpPr>
          <p:cNvPr id="15" name="split_94"/>
          <p:cNvSpPr/>
          <p:nvPr/>
        </p:nvSpPr>
        <p:spPr>
          <a:xfrm>
            <a:off x="548640" y="3429000"/>
            <a:ext cx="3104205" cy="219456"/>
          </a:xfrm>
          <a:prstGeom prst="rect">
            <a:avLst/>
          </a:prstGeom>
          <a:solidFill>
            <a:schemeClr val="accent1"/>
          </a:solidFill>
          <a:ln w="12700">
            <a:solidFill>
              <a:schemeClr val="accent1"/>
            </a:solidFill>
            <a:prstDash val="solid"/>
          </a:ln>
        </p:spPr>
        <p:txBody>
          <a:bodyPr/>
          <a:lstStyle/>
          <a:p>
            <a:endParaRPr lang="mk-MK"/>
          </a:p>
        </p:txBody>
      </p:sp>
      <p:sp>
        <p:nvSpPr>
          <p:cNvPr id="16" name="split_95"/>
          <p:cNvSpPr/>
          <p:nvPr/>
        </p:nvSpPr>
        <p:spPr>
          <a:xfrm>
            <a:off x="3652845" y="3429000"/>
            <a:ext cx="794979" cy="219456"/>
          </a:xfrm>
          <a:prstGeom prst="rect">
            <a:avLst/>
          </a:prstGeom>
          <a:solidFill>
            <a:schemeClr val="accent3"/>
          </a:solidFill>
          <a:ln w="12700">
            <a:solidFill>
              <a:schemeClr val="accent3"/>
            </a:solidFill>
            <a:prstDash val="solid"/>
          </a:ln>
        </p:spPr>
        <p:txBody>
          <a:bodyPr/>
          <a:lstStyle/>
          <a:p>
            <a:endParaRPr lang="mk-MK"/>
          </a:p>
        </p:txBody>
      </p:sp>
      <p:sp>
        <p:nvSpPr>
          <p:cNvPr id="17" name="split_96"/>
          <p:cNvSpPr/>
          <p:nvPr/>
        </p:nvSpPr>
        <p:spPr>
          <a:xfrm>
            <a:off x="4447824" y="3429000"/>
            <a:ext cx="307056" cy="219456"/>
          </a:xfrm>
          <a:prstGeom prst="rect">
            <a:avLst/>
          </a:prstGeom>
          <a:solidFill>
            <a:schemeClr val="accent5"/>
          </a:solidFill>
          <a:ln w="12700">
            <a:solidFill>
              <a:schemeClr val="accent5"/>
            </a:solidFill>
            <a:prstDash val="solid"/>
          </a:ln>
        </p:spPr>
        <p:txBody>
          <a:bodyPr/>
          <a:lstStyle/>
          <a:p>
            <a:endParaRPr lang="mk-MK"/>
          </a:p>
        </p:txBody>
      </p:sp>
      <p:sp>
        <p:nvSpPr>
          <p:cNvPr id="18" name="text_97"/>
          <p:cNvSpPr txBox="1"/>
          <p:nvPr/>
        </p:nvSpPr>
        <p:spPr>
          <a:xfrm>
            <a:off x="548640" y="3758184"/>
            <a:ext cx="4206240" cy="292608"/>
          </a:xfrm>
          <a:prstGeom prst="rect">
            <a:avLst/>
          </a:prstGeom>
          <a:noFill/>
          <a:ln/>
        </p:spPr>
        <p:txBody>
          <a:bodyPr wrap="square" lIns="0" tIns="0" rIns="0" bIns="0" rtlCol="0" anchor="t"/>
          <a:lstStyle/>
          <a:p>
            <a:pPr marL="0" indent="0">
              <a:buNone/>
            </a:pPr>
            <a:r>
              <a:rPr lang="en-US" sz="1500" b="1" dirty="0">
                <a:solidFill>
                  <a:schemeClr val="accent1"/>
                </a:solidFill>
              </a:rPr>
              <a:t>Transit 74%</a:t>
            </a:r>
            <a:r>
              <a:rPr lang="en-US" sz="1500" b="1" dirty="0">
                <a:solidFill>
                  <a:schemeClr val="accent3"/>
                </a:solidFill>
              </a:rPr>
              <a:t>   RV 19%</a:t>
            </a:r>
            <a:r>
              <a:rPr lang="en-US" sz="1500" b="1" dirty="0">
                <a:solidFill>
                  <a:schemeClr val="accent5"/>
                </a:solidFill>
              </a:rPr>
              <a:t>   Other 7%</a:t>
            </a:r>
            <a:endParaRPr lang="en-US" sz="1500" dirty="0"/>
          </a:p>
        </p:txBody>
      </p:sp>
      <p:sp>
        <p:nvSpPr>
          <p:cNvPr id="19" name="text_98"/>
          <p:cNvSpPr txBox="1"/>
          <p:nvPr/>
        </p:nvSpPr>
        <p:spPr>
          <a:xfrm>
            <a:off x="548640" y="4526280"/>
            <a:ext cx="4206240" cy="822960"/>
          </a:xfrm>
          <a:prstGeom prst="rect">
            <a:avLst/>
          </a:prstGeom>
          <a:noFill/>
          <a:ln/>
        </p:spPr>
        <p:txBody>
          <a:bodyPr wrap="square" lIns="0" tIns="0" rIns="0" bIns="0" rtlCol="0" anchor="t"/>
          <a:lstStyle/>
          <a:p>
            <a:pPr marL="0" indent="0">
              <a:buNone/>
            </a:pPr>
            <a:r>
              <a:rPr lang="en-US" sz="1600" dirty="0">
                <a:solidFill>
                  <a:schemeClr val="bg1"/>
                </a:solidFill>
              </a:rPr>
              <a:t>Methods see different planets: median period 8 days by transit, 308 days by radial velocity.</a:t>
            </a:r>
            <a:endParaRPr lang="en-US" sz="1600" dirty="0"/>
          </a:p>
        </p:txBody>
      </p:sp>
      <p:sp>
        <p:nvSpPr>
          <p:cNvPr id="20" name="text_99"/>
          <p:cNvSpPr txBox="1"/>
          <p:nvPr/>
        </p:nvSpPr>
        <p:spPr>
          <a:xfrm>
            <a:off x="548640" y="5897880"/>
            <a:ext cx="4389120" cy="274320"/>
          </a:xfrm>
          <a:prstGeom prst="rect">
            <a:avLst/>
          </a:prstGeom>
          <a:noFill/>
          <a:ln/>
        </p:spPr>
        <p:txBody>
          <a:bodyPr wrap="square" lIns="0" tIns="0" rIns="0" bIns="0" rtlCol="0" anchor="t"/>
          <a:lstStyle/>
          <a:p>
            <a:pPr marL="0" indent="0">
              <a:buNone/>
            </a:pPr>
            <a:r>
              <a:rPr lang="en-US" sz="1200" dirty="0">
                <a:solidFill>
                  <a:schemeClr val="bg2"/>
                </a:solidFill>
              </a:rPr>
              <a:t>NASA Exoplanet Archive · PSCompPars · 15 July 2026</a:t>
            </a:r>
            <a:endParaRPr lang="en-US" sz="1200" dirty="0"/>
          </a:p>
        </p:txBody>
      </p:sp>
      <p:pic>
        <p:nvPicPr>
          <p:cNvPr id="21" name="img_100" descr="Radius vs orbital period for all archive planets, coloured by discovery method"/>
          <p:cNvPicPr>
            <a:picLocks noChangeAspect="1"/>
          </p:cNvPicPr>
          <p:nvPr/>
        </p:nvPicPr>
        <p:blipFill>
          <a:blip r:embed="rId3"/>
          <a:stretch>
            <a:fillRect/>
          </a:stretch>
        </p:blipFill>
        <p:spPr>
          <a:xfrm>
            <a:off x="5257800" y="1581509"/>
            <a:ext cx="6400800" cy="4609381"/>
          </a:xfrm>
          <a:prstGeom prst="rect">
            <a:avLst/>
          </a:prstGeom>
        </p:spPr>
      </p:pic>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THE DECISIVE FILTER</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Not every radius was measured</a:t>
            </a:r>
            <a:endParaRPr lang="en-US" sz="3400" dirty="0"/>
          </a:p>
        </p:txBody>
      </p:sp>
      <p:sp>
        <p:nvSpPr>
          <p:cNvPr id="4" name="orbit_101"/>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02"/>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03"/>
          <p:cNvSpPr/>
          <p:nvPr/>
        </p:nvSpPr>
        <p:spPr>
          <a:xfrm>
            <a:off x="9561271"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7" name="orbit_dot_104"/>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105"/>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106"/>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107"/>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08"/>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09"/>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DATA</a:t>
            </a:r>
            <a:endParaRPr lang="en-US" sz="900" dirty="0"/>
          </a:p>
        </p:txBody>
      </p:sp>
      <p:pic>
        <p:nvPicPr>
          <p:cNvPr id="13" name="img_110" descr="Mass-radius diagram, measured versus calculated radii"/>
          <p:cNvPicPr>
            <a:picLocks noChangeAspect="1"/>
          </p:cNvPicPr>
          <p:nvPr/>
        </p:nvPicPr>
        <p:blipFill>
          <a:blip r:embed="rId3"/>
          <a:stretch>
            <a:fillRect/>
          </a:stretch>
        </p:blipFill>
        <p:spPr>
          <a:xfrm>
            <a:off x="548640" y="1554480"/>
            <a:ext cx="6136374" cy="4663440"/>
          </a:xfrm>
          <a:prstGeom prst="rect">
            <a:avLst/>
          </a:prstGeom>
        </p:spPr>
      </p:pic>
      <p:sp>
        <p:nvSpPr>
          <p:cNvPr id="14" name="text_111"/>
          <p:cNvSpPr txBox="1"/>
          <p:nvPr/>
        </p:nvSpPr>
        <p:spPr>
          <a:xfrm>
            <a:off x="7452360" y="1920240"/>
            <a:ext cx="4190695" cy="952500"/>
          </a:xfrm>
          <a:prstGeom prst="rect">
            <a:avLst/>
          </a:prstGeom>
          <a:noFill/>
          <a:ln/>
        </p:spPr>
        <p:txBody>
          <a:bodyPr wrap="square" lIns="0" tIns="0" rIns="0" bIns="0" rtlCol="0" anchor="b"/>
          <a:lstStyle/>
          <a:p>
            <a:pPr marL="0" indent="0">
              <a:buNone/>
            </a:pPr>
            <a:r>
              <a:rPr lang="en-US" sz="6000" b="1" dirty="0">
                <a:solidFill>
                  <a:schemeClr val="accent2"/>
                </a:solidFill>
                <a:latin typeface="Cambria" pitchFamily="34" charset="0"/>
                <a:ea typeface="Cambria" pitchFamily="34" charset="-122"/>
                <a:cs typeface="Cambria" pitchFamily="34" charset="-120"/>
              </a:rPr>
              <a:t>1,518</a:t>
            </a:r>
            <a:endParaRPr lang="en-US" sz="6000" dirty="0"/>
          </a:p>
        </p:txBody>
      </p:sp>
      <p:sp>
        <p:nvSpPr>
          <p:cNvPr id="15" name="text_112"/>
          <p:cNvSpPr txBox="1"/>
          <p:nvPr/>
        </p:nvSpPr>
        <p:spPr>
          <a:xfrm>
            <a:off x="7452360" y="2909316"/>
            <a:ext cx="4190695" cy="640080"/>
          </a:xfrm>
          <a:prstGeom prst="rect">
            <a:avLst/>
          </a:prstGeom>
          <a:noFill/>
          <a:ln/>
        </p:spPr>
        <p:txBody>
          <a:bodyPr wrap="square" lIns="0" tIns="0" rIns="0" bIns="0" rtlCol="0" anchor="t"/>
          <a:lstStyle/>
          <a:p>
            <a:pPr marL="0" indent="0">
              <a:buNone/>
            </a:pPr>
            <a:r>
              <a:rPr lang="en-US" sz="1300" dirty="0">
                <a:solidFill>
                  <a:schemeClr val="bg2"/>
                </a:solidFill>
              </a:rPr>
              <a:t>radii were calculated from a mass–radius formula, not measured (24%)</a:t>
            </a:r>
            <a:endParaRPr lang="en-US" sz="1300" dirty="0"/>
          </a:p>
        </p:txBody>
      </p:sp>
      <p:sp>
        <p:nvSpPr>
          <p:cNvPr id="16" name="text_113"/>
          <p:cNvSpPr txBox="1"/>
          <p:nvPr/>
        </p:nvSpPr>
        <p:spPr>
          <a:xfrm>
            <a:off x="7452360" y="4206240"/>
            <a:ext cx="4190695" cy="91440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A formula can’t contain a gap — so these planets had to go.</a:t>
            </a:r>
            <a:endParaRPr lang="en-US" sz="2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FILTERING PROTOCOL</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From 6,319 to 2,587 planets</a:t>
            </a:r>
            <a:endParaRPr lang="en-US" sz="3400" dirty="0"/>
          </a:p>
        </p:txBody>
      </p:sp>
      <p:sp>
        <p:nvSpPr>
          <p:cNvPr id="4" name="orbit_114"/>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15"/>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16"/>
          <p:cNvSpPr/>
          <p:nvPr/>
        </p:nvSpPr>
        <p:spPr>
          <a:xfrm>
            <a:off x="9561271"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7" name="orbit_dot_117"/>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118"/>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119"/>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120"/>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21"/>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22"/>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DATA</a:t>
            </a:r>
            <a:endParaRPr lang="en-US" sz="900" dirty="0"/>
          </a:p>
        </p:txBody>
      </p:sp>
      <p:sp>
        <p:nvSpPr>
          <p:cNvPr id="13" name="text_123"/>
          <p:cNvSpPr txBox="1"/>
          <p:nvPr/>
        </p:nvSpPr>
        <p:spPr>
          <a:xfrm>
            <a:off x="548640" y="1691640"/>
            <a:ext cx="2743200" cy="438912"/>
          </a:xfrm>
          <a:prstGeom prst="rect">
            <a:avLst/>
          </a:prstGeom>
          <a:noFill/>
          <a:ln/>
        </p:spPr>
        <p:txBody>
          <a:bodyPr wrap="square" lIns="0" tIns="0" rIns="0" bIns="0" rtlCol="0" anchor="ctr"/>
          <a:lstStyle/>
          <a:p>
            <a:pPr marL="0" indent="0">
              <a:buNone/>
            </a:pPr>
            <a:r>
              <a:rPr lang="en-US" sz="1500" dirty="0">
                <a:solidFill>
                  <a:schemeClr val="bg1"/>
                </a:solidFill>
              </a:rPr>
              <a:t>Raw archive</a:t>
            </a:r>
            <a:endParaRPr lang="en-US" sz="1500" dirty="0"/>
          </a:p>
        </p:txBody>
      </p:sp>
      <p:sp>
        <p:nvSpPr>
          <p:cNvPr id="14" name="bar_124"/>
          <p:cNvSpPr/>
          <p:nvPr/>
        </p:nvSpPr>
        <p:spPr>
          <a:xfrm>
            <a:off x="3474720" y="1783080"/>
            <a:ext cx="5486400" cy="256032"/>
          </a:xfrm>
          <a:prstGeom prst="roundRect">
            <a:avLst>
              <a:gd name="adj" fmla="val 21429"/>
            </a:avLst>
          </a:prstGeom>
          <a:solidFill>
            <a:schemeClr val="accent5">
              <a:alpha val="45000"/>
            </a:schemeClr>
          </a:solidFill>
          <a:ln w="12700">
            <a:solidFill>
              <a:schemeClr val="accent5"/>
            </a:solidFill>
            <a:prstDash val="solid"/>
          </a:ln>
        </p:spPr>
        <p:txBody>
          <a:bodyPr/>
          <a:lstStyle/>
          <a:p>
            <a:endParaRPr lang="mk-MK"/>
          </a:p>
        </p:txBody>
      </p:sp>
      <p:sp>
        <p:nvSpPr>
          <p:cNvPr id="15" name="text_125"/>
          <p:cNvSpPr txBox="1"/>
          <p:nvPr/>
        </p:nvSpPr>
        <p:spPr>
          <a:xfrm>
            <a:off x="9098280" y="169164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6,319</a:t>
            </a:r>
            <a:endParaRPr lang="en-US" sz="1500" dirty="0"/>
          </a:p>
        </p:txBody>
      </p:sp>
      <p:sp>
        <p:nvSpPr>
          <p:cNvPr id="16" name="text_126"/>
          <p:cNvSpPr txBox="1"/>
          <p:nvPr/>
        </p:nvSpPr>
        <p:spPr>
          <a:xfrm>
            <a:off x="548640" y="2240280"/>
            <a:ext cx="2743200" cy="438912"/>
          </a:xfrm>
          <a:prstGeom prst="rect">
            <a:avLst/>
          </a:prstGeom>
          <a:noFill/>
          <a:ln/>
        </p:spPr>
        <p:txBody>
          <a:bodyPr wrap="square" lIns="0" tIns="0" rIns="0" bIns="0" rtlCol="0" anchor="ctr"/>
          <a:lstStyle/>
          <a:p>
            <a:pPr marL="0" indent="0">
              <a:buNone/>
            </a:pPr>
            <a:r>
              <a:rPr lang="en-US" sz="1500" dirty="0">
                <a:solidFill>
                  <a:schemeClr val="bg1"/>
                </a:solidFill>
              </a:rPr>
              <a:t>Has radius and period</a:t>
            </a:r>
            <a:endParaRPr lang="en-US" sz="1500" dirty="0"/>
          </a:p>
        </p:txBody>
      </p:sp>
      <p:sp>
        <p:nvSpPr>
          <p:cNvPr id="17" name="bar_127"/>
          <p:cNvSpPr/>
          <p:nvPr/>
        </p:nvSpPr>
        <p:spPr>
          <a:xfrm>
            <a:off x="3474720" y="2331720"/>
            <a:ext cx="5147787" cy="256032"/>
          </a:xfrm>
          <a:prstGeom prst="roundRect">
            <a:avLst>
              <a:gd name="adj" fmla="val 21429"/>
            </a:avLst>
          </a:prstGeom>
          <a:solidFill>
            <a:schemeClr val="accent5">
              <a:alpha val="45000"/>
            </a:schemeClr>
          </a:solidFill>
          <a:ln w="12700">
            <a:solidFill>
              <a:schemeClr val="accent5"/>
            </a:solidFill>
            <a:prstDash val="solid"/>
          </a:ln>
        </p:spPr>
        <p:txBody>
          <a:bodyPr/>
          <a:lstStyle/>
          <a:p>
            <a:endParaRPr lang="mk-MK"/>
          </a:p>
        </p:txBody>
      </p:sp>
      <p:sp>
        <p:nvSpPr>
          <p:cNvPr id="18" name="text_128"/>
          <p:cNvSpPr txBox="1"/>
          <p:nvPr/>
        </p:nvSpPr>
        <p:spPr>
          <a:xfrm>
            <a:off x="8759667" y="224028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5,929</a:t>
            </a:r>
            <a:endParaRPr lang="en-US" sz="1500" dirty="0"/>
          </a:p>
        </p:txBody>
      </p:sp>
      <p:sp>
        <p:nvSpPr>
          <p:cNvPr id="19" name="text_129"/>
          <p:cNvSpPr txBox="1"/>
          <p:nvPr/>
        </p:nvSpPr>
        <p:spPr>
          <a:xfrm>
            <a:off x="548640" y="2788920"/>
            <a:ext cx="2743200" cy="438912"/>
          </a:xfrm>
          <a:prstGeom prst="rect">
            <a:avLst/>
          </a:prstGeom>
          <a:noFill/>
          <a:ln/>
        </p:spPr>
        <p:txBody>
          <a:bodyPr wrap="square" lIns="0" tIns="0" rIns="0" bIns="0" rtlCol="0" anchor="ctr"/>
          <a:lstStyle/>
          <a:p>
            <a:pPr marL="0" indent="0">
              <a:buNone/>
            </a:pPr>
            <a:r>
              <a:rPr lang="en-US" sz="1500" dirty="0">
                <a:solidFill>
                  <a:schemeClr val="bg1"/>
                </a:solidFill>
              </a:rPr>
              <a:t>Not controversial</a:t>
            </a:r>
            <a:endParaRPr lang="en-US" sz="1500" dirty="0"/>
          </a:p>
        </p:txBody>
      </p:sp>
      <p:sp>
        <p:nvSpPr>
          <p:cNvPr id="20" name="bar_130"/>
          <p:cNvSpPr/>
          <p:nvPr/>
        </p:nvSpPr>
        <p:spPr>
          <a:xfrm>
            <a:off x="3474720" y="2880360"/>
            <a:ext cx="5104375" cy="256032"/>
          </a:xfrm>
          <a:prstGeom prst="roundRect">
            <a:avLst>
              <a:gd name="adj" fmla="val 21429"/>
            </a:avLst>
          </a:prstGeom>
          <a:solidFill>
            <a:schemeClr val="accent5">
              <a:alpha val="45000"/>
            </a:schemeClr>
          </a:solidFill>
          <a:ln w="12700">
            <a:solidFill>
              <a:schemeClr val="accent5"/>
            </a:solidFill>
            <a:prstDash val="solid"/>
          </a:ln>
        </p:spPr>
        <p:txBody>
          <a:bodyPr/>
          <a:lstStyle/>
          <a:p>
            <a:endParaRPr lang="mk-MK"/>
          </a:p>
        </p:txBody>
      </p:sp>
      <p:sp>
        <p:nvSpPr>
          <p:cNvPr id="21" name="text_131"/>
          <p:cNvSpPr txBox="1"/>
          <p:nvPr/>
        </p:nvSpPr>
        <p:spPr>
          <a:xfrm>
            <a:off x="8716255" y="278892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5,879</a:t>
            </a:r>
            <a:endParaRPr lang="en-US" sz="1500" dirty="0"/>
          </a:p>
        </p:txBody>
      </p:sp>
      <p:sp>
        <p:nvSpPr>
          <p:cNvPr id="22" name="text_132"/>
          <p:cNvSpPr txBox="1"/>
          <p:nvPr/>
        </p:nvSpPr>
        <p:spPr>
          <a:xfrm>
            <a:off x="548640" y="3337560"/>
            <a:ext cx="2743200" cy="438912"/>
          </a:xfrm>
          <a:prstGeom prst="rect">
            <a:avLst/>
          </a:prstGeom>
          <a:noFill/>
          <a:ln/>
        </p:spPr>
        <p:txBody>
          <a:bodyPr wrap="square" lIns="0" tIns="0" rIns="0" bIns="0" rtlCol="0" anchor="ctr"/>
          <a:lstStyle/>
          <a:p>
            <a:pPr marL="0" indent="0">
              <a:buNone/>
            </a:pPr>
            <a:r>
              <a:rPr lang="en-US" sz="1500" dirty="0">
                <a:solidFill>
                  <a:schemeClr val="bg1"/>
                </a:solidFill>
              </a:rPr>
              <a:t>Radius measured</a:t>
            </a:r>
            <a:endParaRPr lang="en-US" sz="1500" dirty="0"/>
          </a:p>
        </p:txBody>
      </p:sp>
      <p:sp>
        <p:nvSpPr>
          <p:cNvPr id="23" name="bar_133"/>
          <p:cNvSpPr/>
          <p:nvPr/>
        </p:nvSpPr>
        <p:spPr>
          <a:xfrm>
            <a:off x="3474720" y="3429000"/>
            <a:ext cx="4092009" cy="256032"/>
          </a:xfrm>
          <a:prstGeom prst="roundRect">
            <a:avLst>
              <a:gd name="adj" fmla="val 21429"/>
            </a:avLst>
          </a:prstGeom>
          <a:solidFill>
            <a:schemeClr val="accent2">
              <a:alpha val="80000"/>
            </a:schemeClr>
          </a:solidFill>
          <a:ln w="12700">
            <a:solidFill>
              <a:schemeClr val="accent2"/>
            </a:solidFill>
            <a:prstDash val="solid"/>
          </a:ln>
        </p:spPr>
        <p:txBody>
          <a:bodyPr/>
          <a:lstStyle/>
          <a:p>
            <a:endParaRPr lang="mk-MK"/>
          </a:p>
        </p:txBody>
      </p:sp>
      <p:sp>
        <p:nvSpPr>
          <p:cNvPr id="24" name="text_134"/>
          <p:cNvSpPr txBox="1"/>
          <p:nvPr/>
        </p:nvSpPr>
        <p:spPr>
          <a:xfrm>
            <a:off x="7703889" y="333756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4,713</a:t>
            </a:r>
            <a:endParaRPr lang="en-US" sz="1500" dirty="0"/>
          </a:p>
        </p:txBody>
      </p:sp>
      <p:sp>
        <p:nvSpPr>
          <p:cNvPr id="25" name="text_135"/>
          <p:cNvSpPr txBox="1"/>
          <p:nvPr/>
        </p:nvSpPr>
        <p:spPr>
          <a:xfrm>
            <a:off x="8481129" y="3337560"/>
            <a:ext cx="822960" cy="438912"/>
          </a:xfrm>
          <a:prstGeom prst="rect">
            <a:avLst/>
          </a:prstGeom>
          <a:noFill/>
          <a:ln/>
        </p:spPr>
        <p:txBody>
          <a:bodyPr wrap="square" lIns="0" tIns="0" rIns="0" bIns="0" rtlCol="0" anchor="ctr"/>
          <a:lstStyle/>
          <a:p>
            <a:pPr marL="0" indent="0">
              <a:buNone/>
            </a:pPr>
            <a:r>
              <a:rPr lang="en-US" sz="1400" dirty="0">
                <a:solidFill>
                  <a:schemeClr val="accent2"/>
                </a:solidFill>
              </a:rPr>
              <a:t>−1,166</a:t>
            </a:r>
            <a:endParaRPr lang="en-US" sz="1400" dirty="0"/>
          </a:p>
        </p:txBody>
      </p:sp>
      <p:sp>
        <p:nvSpPr>
          <p:cNvPr id="26" name="text_136"/>
          <p:cNvSpPr txBox="1"/>
          <p:nvPr/>
        </p:nvSpPr>
        <p:spPr>
          <a:xfrm>
            <a:off x="548640" y="3886200"/>
            <a:ext cx="2743200" cy="438912"/>
          </a:xfrm>
          <a:prstGeom prst="rect">
            <a:avLst/>
          </a:prstGeom>
          <a:noFill/>
          <a:ln/>
        </p:spPr>
        <p:txBody>
          <a:bodyPr wrap="square" lIns="0" tIns="0" rIns="0" bIns="0" rtlCol="0" anchor="ctr"/>
          <a:lstStyle/>
          <a:p>
            <a:pPr marL="0" indent="0">
              <a:buNone/>
            </a:pPr>
            <a:r>
              <a:rPr lang="en-US" sz="1500" dirty="0">
                <a:solidFill>
                  <a:schemeClr val="bg1"/>
                </a:solidFill>
              </a:rPr>
              <a:t>Radius not a limit</a:t>
            </a:r>
            <a:endParaRPr lang="en-US" sz="1500" dirty="0"/>
          </a:p>
        </p:txBody>
      </p:sp>
      <p:sp>
        <p:nvSpPr>
          <p:cNvPr id="27" name="bar_137"/>
          <p:cNvSpPr/>
          <p:nvPr/>
        </p:nvSpPr>
        <p:spPr>
          <a:xfrm>
            <a:off x="3474720" y="3977640"/>
            <a:ext cx="4089404" cy="256032"/>
          </a:xfrm>
          <a:prstGeom prst="roundRect">
            <a:avLst>
              <a:gd name="adj" fmla="val 21429"/>
            </a:avLst>
          </a:prstGeom>
          <a:solidFill>
            <a:schemeClr val="accent5">
              <a:alpha val="45000"/>
            </a:schemeClr>
          </a:solidFill>
          <a:ln w="12700">
            <a:solidFill>
              <a:schemeClr val="accent5"/>
            </a:solidFill>
            <a:prstDash val="solid"/>
          </a:ln>
        </p:spPr>
        <p:txBody>
          <a:bodyPr/>
          <a:lstStyle/>
          <a:p>
            <a:endParaRPr lang="mk-MK"/>
          </a:p>
        </p:txBody>
      </p:sp>
      <p:sp>
        <p:nvSpPr>
          <p:cNvPr id="28" name="text_138"/>
          <p:cNvSpPr txBox="1"/>
          <p:nvPr/>
        </p:nvSpPr>
        <p:spPr>
          <a:xfrm>
            <a:off x="7701284" y="388620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4,710</a:t>
            </a:r>
            <a:endParaRPr lang="en-US" sz="1500" dirty="0"/>
          </a:p>
        </p:txBody>
      </p:sp>
      <p:sp>
        <p:nvSpPr>
          <p:cNvPr id="29" name="text_139"/>
          <p:cNvSpPr txBox="1"/>
          <p:nvPr/>
        </p:nvSpPr>
        <p:spPr>
          <a:xfrm>
            <a:off x="548640" y="4434840"/>
            <a:ext cx="2743200" cy="438912"/>
          </a:xfrm>
          <a:prstGeom prst="rect">
            <a:avLst/>
          </a:prstGeom>
          <a:noFill/>
          <a:ln/>
        </p:spPr>
        <p:txBody>
          <a:bodyPr wrap="square" lIns="0" tIns="0" rIns="0" bIns="0" rtlCol="0" anchor="ctr"/>
          <a:lstStyle/>
          <a:p>
            <a:pPr marL="0" indent="0">
              <a:buNone/>
            </a:pPr>
            <a:r>
              <a:rPr lang="en-US" sz="1500" dirty="0">
                <a:solidFill>
                  <a:schemeClr val="bg1"/>
                </a:solidFill>
              </a:rPr>
              <a:t>Period not a limit</a:t>
            </a:r>
            <a:endParaRPr lang="en-US" sz="1500" dirty="0"/>
          </a:p>
        </p:txBody>
      </p:sp>
      <p:sp>
        <p:nvSpPr>
          <p:cNvPr id="30" name="bar_140"/>
          <p:cNvSpPr/>
          <p:nvPr/>
        </p:nvSpPr>
        <p:spPr>
          <a:xfrm>
            <a:off x="3474720" y="4526280"/>
            <a:ext cx="4089404" cy="256032"/>
          </a:xfrm>
          <a:prstGeom prst="roundRect">
            <a:avLst>
              <a:gd name="adj" fmla="val 21429"/>
            </a:avLst>
          </a:prstGeom>
          <a:solidFill>
            <a:schemeClr val="accent5">
              <a:alpha val="45000"/>
            </a:schemeClr>
          </a:solidFill>
          <a:ln w="12700">
            <a:solidFill>
              <a:schemeClr val="accent5"/>
            </a:solidFill>
            <a:prstDash val="solid"/>
          </a:ln>
        </p:spPr>
        <p:txBody>
          <a:bodyPr/>
          <a:lstStyle/>
          <a:p>
            <a:endParaRPr lang="mk-MK"/>
          </a:p>
        </p:txBody>
      </p:sp>
      <p:sp>
        <p:nvSpPr>
          <p:cNvPr id="31" name="text_141"/>
          <p:cNvSpPr txBox="1"/>
          <p:nvPr/>
        </p:nvSpPr>
        <p:spPr>
          <a:xfrm>
            <a:off x="7701284" y="443484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4,710</a:t>
            </a:r>
            <a:endParaRPr lang="en-US" sz="1500" dirty="0"/>
          </a:p>
        </p:txBody>
      </p:sp>
      <p:sp>
        <p:nvSpPr>
          <p:cNvPr id="32" name="text_142"/>
          <p:cNvSpPr txBox="1"/>
          <p:nvPr/>
        </p:nvSpPr>
        <p:spPr>
          <a:xfrm>
            <a:off x="548640" y="4983480"/>
            <a:ext cx="2743200" cy="438912"/>
          </a:xfrm>
          <a:prstGeom prst="rect">
            <a:avLst/>
          </a:prstGeom>
          <a:noFill/>
          <a:ln/>
        </p:spPr>
        <p:txBody>
          <a:bodyPr wrap="square" lIns="0" tIns="0" rIns="0" bIns="0" rtlCol="0" anchor="ctr"/>
          <a:lstStyle/>
          <a:p>
            <a:pPr marL="0" indent="0">
              <a:buNone/>
            </a:pPr>
            <a:r>
              <a:rPr lang="en-US" sz="1500" dirty="0">
                <a:solidFill>
                  <a:schemeClr val="bg1"/>
                </a:solidFill>
              </a:rPr>
              <a:t>Radius 0.5–4 R</a:t>
            </a:r>
            <a:r>
              <a:rPr lang="en-US" sz="1500" dirty="0">
                <a:solidFill>
                  <a:schemeClr val="bg1"/>
                </a:solidFill>
                <a:latin typeface="Cambria" pitchFamily="34" charset="0"/>
                <a:ea typeface="Cambria" pitchFamily="34" charset="-122"/>
                <a:cs typeface="Cambria" pitchFamily="34" charset="-120"/>
              </a:rPr>
              <a:t>⊕</a:t>
            </a:r>
            <a:endParaRPr lang="en-US" sz="1500" dirty="0"/>
          </a:p>
        </p:txBody>
      </p:sp>
      <p:sp>
        <p:nvSpPr>
          <p:cNvPr id="33" name="bar_143"/>
          <p:cNvSpPr/>
          <p:nvPr/>
        </p:nvSpPr>
        <p:spPr>
          <a:xfrm>
            <a:off x="3474720" y="5074920"/>
            <a:ext cx="3049254" cy="256032"/>
          </a:xfrm>
          <a:prstGeom prst="roundRect">
            <a:avLst>
              <a:gd name="adj" fmla="val 21429"/>
            </a:avLst>
          </a:prstGeom>
          <a:solidFill>
            <a:schemeClr val="accent2">
              <a:alpha val="80000"/>
            </a:schemeClr>
          </a:solidFill>
          <a:ln w="12700">
            <a:solidFill>
              <a:schemeClr val="accent2"/>
            </a:solidFill>
            <a:prstDash val="solid"/>
          </a:ln>
        </p:spPr>
        <p:txBody>
          <a:bodyPr/>
          <a:lstStyle/>
          <a:p>
            <a:endParaRPr lang="mk-MK"/>
          </a:p>
        </p:txBody>
      </p:sp>
      <p:sp>
        <p:nvSpPr>
          <p:cNvPr id="34" name="text_144"/>
          <p:cNvSpPr txBox="1"/>
          <p:nvPr/>
        </p:nvSpPr>
        <p:spPr>
          <a:xfrm>
            <a:off x="6661134" y="4983480"/>
            <a:ext cx="822960" cy="438912"/>
          </a:xfrm>
          <a:prstGeom prst="rect">
            <a:avLst/>
          </a:prstGeom>
          <a:noFill/>
          <a:ln/>
        </p:spPr>
        <p:txBody>
          <a:bodyPr wrap="square" lIns="0" tIns="0" rIns="0" bIns="0" rtlCol="0" anchor="ctr"/>
          <a:lstStyle/>
          <a:p>
            <a:pPr marL="0" indent="0">
              <a:buNone/>
            </a:pPr>
            <a:r>
              <a:rPr lang="en-US" sz="1500" b="1" dirty="0">
                <a:solidFill>
                  <a:schemeClr val="bg1"/>
                </a:solidFill>
              </a:rPr>
              <a:t>3,512</a:t>
            </a:r>
            <a:endParaRPr lang="en-US" sz="1500" dirty="0"/>
          </a:p>
        </p:txBody>
      </p:sp>
      <p:sp>
        <p:nvSpPr>
          <p:cNvPr id="35" name="text_145"/>
          <p:cNvSpPr txBox="1"/>
          <p:nvPr/>
        </p:nvSpPr>
        <p:spPr>
          <a:xfrm>
            <a:off x="7438374" y="4983480"/>
            <a:ext cx="822960" cy="438912"/>
          </a:xfrm>
          <a:prstGeom prst="rect">
            <a:avLst/>
          </a:prstGeom>
          <a:noFill/>
          <a:ln/>
        </p:spPr>
        <p:txBody>
          <a:bodyPr wrap="square" lIns="0" tIns="0" rIns="0" bIns="0" rtlCol="0" anchor="ctr"/>
          <a:lstStyle/>
          <a:p>
            <a:pPr marL="0" indent="0">
              <a:buNone/>
            </a:pPr>
            <a:r>
              <a:rPr lang="en-US" sz="1400" dirty="0">
                <a:solidFill>
                  <a:schemeClr val="accent2"/>
                </a:solidFill>
              </a:rPr>
              <a:t>−1,198</a:t>
            </a:r>
            <a:endParaRPr lang="en-US" sz="1400" dirty="0"/>
          </a:p>
        </p:txBody>
      </p:sp>
      <p:sp>
        <p:nvSpPr>
          <p:cNvPr id="36" name="text_146"/>
          <p:cNvSpPr txBox="1"/>
          <p:nvPr/>
        </p:nvSpPr>
        <p:spPr>
          <a:xfrm>
            <a:off x="548640" y="5532120"/>
            <a:ext cx="2743200" cy="438912"/>
          </a:xfrm>
          <a:prstGeom prst="rect">
            <a:avLst/>
          </a:prstGeom>
          <a:noFill/>
          <a:ln/>
        </p:spPr>
        <p:txBody>
          <a:bodyPr wrap="square" lIns="0" tIns="0" rIns="0" bIns="0" rtlCol="0" anchor="ctr"/>
          <a:lstStyle/>
          <a:p>
            <a:pPr marL="0" indent="0">
              <a:buNone/>
            </a:pPr>
            <a:r>
              <a:rPr lang="en-US" sz="1500" b="1" dirty="0">
                <a:solidFill>
                  <a:schemeClr val="accent1"/>
                </a:solidFill>
              </a:rPr>
              <a:t>Radius error &lt; 20%</a:t>
            </a:r>
            <a:endParaRPr lang="en-US" sz="1500" dirty="0"/>
          </a:p>
        </p:txBody>
      </p:sp>
      <p:sp>
        <p:nvSpPr>
          <p:cNvPr id="37" name="bar_147"/>
          <p:cNvSpPr/>
          <p:nvPr/>
        </p:nvSpPr>
        <p:spPr>
          <a:xfrm>
            <a:off x="3474720" y="5623560"/>
            <a:ext cx="2246133" cy="256032"/>
          </a:xfrm>
          <a:prstGeom prst="roundRect">
            <a:avLst>
              <a:gd name="adj" fmla="val 21429"/>
            </a:avLst>
          </a:prstGeom>
          <a:solidFill>
            <a:schemeClr val="accent1"/>
          </a:solidFill>
          <a:ln w="12700">
            <a:solidFill>
              <a:schemeClr val="accent1"/>
            </a:solidFill>
            <a:prstDash val="solid"/>
          </a:ln>
        </p:spPr>
        <p:txBody>
          <a:bodyPr/>
          <a:lstStyle/>
          <a:p>
            <a:endParaRPr lang="mk-MK"/>
          </a:p>
        </p:txBody>
      </p:sp>
      <p:sp>
        <p:nvSpPr>
          <p:cNvPr id="38" name="text_148"/>
          <p:cNvSpPr txBox="1"/>
          <p:nvPr/>
        </p:nvSpPr>
        <p:spPr>
          <a:xfrm>
            <a:off x="5858013" y="5532120"/>
            <a:ext cx="822960" cy="438912"/>
          </a:xfrm>
          <a:prstGeom prst="rect">
            <a:avLst/>
          </a:prstGeom>
          <a:noFill/>
          <a:ln/>
        </p:spPr>
        <p:txBody>
          <a:bodyPr wrap="square" lIns="0" tIns="0" rIns="0" bIns="0" rtlCol="0" anchor="ctr"/>
          <a:lstStyle/>
          <a:p>
            <a:pPr marL="0" indent="0">
              <a:buNone/>
            </a:pPr>
            <a:r>
              <a:rPr lang="en-US" sz="1500" b="1" dirty="0">
                <a:solidFill>
                  <a:schemeClr val="accent1"/>
                </a:solidFill>
              </a:rPr>
              <a:t>2,587</a:t>
            </a:r>
            <a:endParaRPr lang="en-US" sz="1500" dirty="0"/>
          </a:p>
        </p:txBody>
      </p:sp>
      <p:sp>
        <p:nvSpPr>
          <p:cNvPr id="39" name="text_149"/>
          <p:cNvSpPr txBox="1"/>
          <p:nvPr/>
        </p:nvSpPr>
        <p:spPr>
          <a:xfrm>
            <a:off x="6635253" y="5532120"/>
            <a:ext cx="822960" cy="438912"/>
          </a:xfrm>
          <a:prstGeom prst="rect">
            <a:avLst/>
          </a:prstGeom>
          <a:noFill/>
          <a:ln/>
        </p:spPr>
        <p:txBody>
          <a:bodyPr wrap="square" lIns="0" tIns="0" rIns="0" bIns="0" rtlCol="0" anchor="ctr"/>
          <a:lstStyle/>
          <a:p>
            <a:pPr marL="0" indent="0">
              <a:buNone/>
            </a:pPr>
            <a:r>
              <a:rPr lang="en-US" sz="1400" dirty="0">
                <a:solidFill>
                  <a:schemeClr val="accent2"/>
                </a:solidFill>
              </a:rPr>
              <a:t>−925</a:t>
            </a:r>
            <a:endParaRPr lang="en-US" sz="1400" dirty="0"/>
          </a:p>
        </p:txBody>
      </p:sp>
      <p:sp>
        <p:nvSpPr>
          <p:cNvPr id="40" name="text_150"/>
          <p:cNvSpPr txBox="1"/>
          <p:nvPr/>
        </p:nvSpPr>
        <p:spPr>
          <a:xfrm>
            <a:off x="10104120" y="4480560"/>
            <a:ext cx="1538935" cy="63500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2,587</a:t>
            </a:r>
            <a:endParaRPr lang="en-US" sz="4000" dirty="0"/>
          </a:p>
        </p:txBody>
      </p:sp>
      <p:sp>
        <p:nvSpPr>
          <p:cNvPr id="41" name="text_151"/>
          <p:cNvSpPr txBox="1"/>
          <p:nvPr/>
        </p:nvSpPr>
        <p:spPr>
          <a:xfrm>
            <a:off x="10104120" y="5152136"/>
            <a:ext cx="1538935" cy="274320"/>
          </a:xfrm>
          <a:prstGeom prst="rect">
            <a:avLst/>
          </a:prstGeom>
          <a:noFill/>
          <a:ln/>
        </p:spPr>
        <p:txBody>
          <a:bodyPr wrap="square" lIns="0" tIns="0" rIns="0" bIns="0" rtlCol="0" anchor="t"/>
          <a:lstStyle/>
          <a:p>
            <a:pPr marL="0" indent="0">
              <a:buNone/>
            </a:pPr>
            <a:r>
              <a:rPr lang="en-US" sz="1300" dirty="0">
                <a:solidFill>
                  <a:schemeClr val="bg2"/>
                </a:solidFill>
              </a:rPr>
              <a:t>analysis sample</a:t>
            </a:r>
            <a:endParaRPr lang="en-US" sz="1300" dirty="0"/>
          </a:p>
        </p:txBody>
      </p:sp>
      <p:sp>
        <p:nvSpPr>
          <p:cNvPr id="42"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THE ANALYSIS SAMPLE</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2,587 planets in one picture</a:t>
            </a:r>
            <a:endParaRPr lang="en-US" sz="3400" dirty="0"/>
          </a:p>
        </p:txBody>
      </p:sp>
      <p:sp>
        <p:nvSpPr>
          <p:cNvPr id="4" name="orbit_152"/>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53"/>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54"/>
          <p:cNvSpPr/>
          <p:nvPr/>
        </p:nvSpPr>
        <p:spPr>
          <a:xfrm>
            <a:off x="9561271"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7" name="orbit_dot_155"/>
          <p:cNvSpPr/>
          <p:nvPr/>
        </p:nvSpPr>
        <p:spPr>
          <a:xfrm>
            <a:off x="9989515"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8" name="orbit_dot_156"/>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157"/>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158"/>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59"/>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60"/>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DATA</a:t>
            </a:r>
            <a:endParaRPr lang="en-US" sz="900" dirty="0"/>
          </a:p>
        </p:txBody>
      </p:sp>
      <p:pic>
        <p:nvPicPr>
          <p:cNvPr id="13" name="img_161" descr="Orbital period versus radius for the filtered sample, split at the 1.76 Earth-radius gap"/>
          <p:cNvPicPr>
            <a:picLocks noChangeAspect="1"/>
          </p:cNvPicPr>
          <p:nvPr/>
        </p:nvPicPr>
        <p:blipFill>
          <a:blip r:embed="rId3"/>
          <a:stretch>
            <a:fillRect/>
          </a:stretch>
        </p:blipFill>
        <p:spPr>
          <a:xfrm>
            <a:off x="548640" y="1554480"/>
            <a:ext cx="7094056" cy="4709160"/>
          </a:xfrm>
          <a:prstGeom prst="rect">
            <a:avLst/>
          </a:prstGeom>
        </p:spPr>
      </p:pic>
      <p:sp>
        <p:nvSpPr>
          <p:cNvPr id="14" name="text_162"/>
          <p:cNvSpPr txBox="1"/>
          <p:nvPr/>
        </p:nvSpPr>
        <p:spPr>
          <a:xfrm>
            <a:off x="8641080" y="1828800"/>
            <a:ext cx="3001975" cy="762000"/>
          </a:xfrm>
          <a:prstGeom prst="rect">
            <a:avLst/>
          </a:prstGeom>
          <a:noFill/>
          <a:ln/>
        </p:spPr>
        <p:txBody>
          <a:bodyPr wrap="square" lIns="0" tIns="0" rIns="0" bIns="0" rtlCol="0" anchor="b"/>
          <a:lstStyle/>
          <a:p>
            <a:pPr marL="0" indent="0">
              <a:buNone/>
            </a:pPr>
            <a:r>
              <a:rPr lang="en-US" sz="4800" b="1" dirty="0">
                <a:solidFill>
                  <a:schemeClr val="accent1"/>
                </a:solidFill>
                <a:latin typeface="Cambria" pitchFamily="34" charset="0"/>
                <a:ea typeface="Cambria" pitchFamily="34" charset="-122"/>
                <a:cs typeface="Cambria" pitchFamily="34" charset="-120"/>
              </a:rPr>
              <a:t>60.7%</a:t>
            </a:r>
            <a:endParaRPr lang="en-US" sz="4800" dirty="0"/>
          </a:p>
        </p:txBody>
      </p:sp>
      <p:sp>
        <p:nvSpPr>
          <p:cNvPr id="15" name="text_163"/>
          <p:cNvSpPr txBox="1"/>
          <p:nvPr/>
        </p:nvSpPr>
        <p:spPr>
          <a:xfrm>
            <a:off x="8641080" y="2627376"/>
            <a:ext cx="3001975" cy="274320"/>
          </a:xfrm>
          <a:prstGeom prst="rect">
            <a:avLst/>
          </a:prstGeom>
          <a:noFill/>
          <a:ln/>
        </p:spPr>
        <p:txBody>
          <a:bodyPr wrap="square" lIns="0" tIns="0" rIns="0" bIns="0" rtlCol="0" anchor="t"/>
          <a:lstStyle/>
          <a:p>
            <a:pPr marL="0" indent="0">
              <a:buNone/>
            </a:pPr>
            <a:r>
              <a:rPr lang="en-US" sz="1300" dirty="0">
                <a:solidFill>
                  <a:schemeClr val="bg2"/>
                </a:solidFill>
              </a:rPr>
              <a:t>above the gap</a:t>
            </a:r>
            <a:endParaRPr lang="en-US" sz="1300" dirty="0"/>
          </a:p>
        </p:txBody>
      </p:sp>
      <p:sp>
        <p:nvSpPr>
          <p:cNvPr id="16" name="text_164"/>
          <p:cNvSpPr txBox="1"/>
          <p:nvPr/>
        </p:nvSpPr>
        <p:spPr>
          <a:xfrm>
            <a:off x="8641080" y="3154680"/>
            <a:ext cx="3001975" cy="762000"/>
          </a:xfrm>
          <a:prstGeom prst="rect">
            <a:avLst/>
          </a:prstGeom>
          <a:noFill/>
          <a:ln/>
        </p:spPr>
        <p:txBody>
          <a:bodyPr wrap="square" lIns="0" tIns="0" rIns="0" bIns="0" rtlCol="0" anchor="b"/>
          <a:lstStyle/>
          <a:p>
            <a:pPr marL="0" indent="0">
              <a:buNone/>
            </a:pPr>
            <a:r>
              <a:rPr lang="en-US" sz="4800" b="1" dirty="0">
                <a:solidFill>
                  <a:schemeClr val="accent2"/>
                </a:solidFill>
                <a:latin typeface="Cambria" pitchFamily="34" charset="0"/>
                <a:ea typeface="Cambria" pitchFamily="34" charset="-122"/>
                <a:cs typeface="Cambria" pitchFamily="34" charset="-120"/>
              </a:rPr>
              <a:t>39.3%</a:t>
            </a:r>
            <a:endParaRPr lang="en-US" sz="4800" dirty="0"/>
          </a:p>
        </p:txBody>
      </p:sp>
      <p:sp>
        <p:nvSpPr>
          <p:cNvPr id="17" name="text_165"/>
          <p:cNvSpPr txBox="1"/>
          <p:nvPr/>
        </p:nvSpPr>
        <p:spPr>
          <a:xfrm>
            <a:off x="8641080" y="3953256"/>
            <a:ext cx="3001975" cy="274320"/>
          </a:xfrm>
          <a:prstGeom prst="rect">
            <a:avLst/>
          </a:prstGeom>
          <a:noFill/>
          <a:ln/>
        </p:spPr>
        <p:txBody>
          <a:bodyPr wrap="square" lIns="0" tIns="0" rIns="0" bIns="0" rtlCol="0" anchor="t"/>
          <a:lstStyle/>
          <a:p>
            <a:pPr marL="0" indent="0">
              <a:buNone/>
            </a:pPr>
            <a:r>
              <a:rPr lang="en-US" sz="1300" dirty="0">
                <a:solidFill>
                  <a:schemeClr val="bg2"/>
                </a:solidFill>
              </a:rPr>
              <a:t>below the gap</a:t>
            </a:r>
            <a:endParaRPr lang="en-US" sz="1300" dirty="0"/>
          </a:p>
        </p:txBody>
      </p:sp>
      <p:sp>
        <p:nvSpPr>
          <p:cNvPr id="18" name="text_166"/>
          <p:cNvSpPr txBox="1"/>
          <p:nvPr/>
        </p:nvSpPr>
        <p:spPr>
          <a:xfrm>
            <a:off x="8641080" y="4709160"/>
            <a:ext cx="3001975" cy="822960"/>
          </a:xfrm>
          <a:prstGeom prst="rect">
            <a:avLst/>
          </a:prstGeom>
          <a:noFill/>
          <a:ln/>
        </p:spPr>
        <p:txBody>
          <a:bodyPr wrap="square" lIns="0" tIns="0" rIns="0" bIns="0" rtlCol="0" anchor="t"/>
          <a:lstStyle/>
          <a:p>
            <a:pPr marL="0" indent="0">
              <a:buNone/>
            </a:pPr>
            <a:r>
              <a:rPr lang="en-US" sz="1500" i="1" dirty="0">
                <a:solidFill>
                  <a:schemeClr val="accent3"/>
                </a:solidFill>
              </a:rPr>
              <a:t>Note the lower edge rising with period — we return to it at the end.</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Q1 · MODEL COMPARISON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Two components beat one — but that isn’t two peaks</a:t>
            </a:r>
            <a:endParaRPr lang="en-US" sz="3400" dirty="0"/>
          </a:p>
        </p:txBody>
      </p:sp>
      <p:sp>
        <p:nvSpPr>
          <p:cNvPr id="4" name="orbit_167"/>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68"/>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69"/>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170"/>
          <p:cNvSpPr/>
          <p:nvPr/>
        </p:nvSpPr>
        <p:spPr>
          <a:xfrm>
            <a:off x="9948367"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8" name="orbit_dot_171"/>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172"/>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173"/>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74"/>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75"/>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Q1 · THE GAP</a:t>
            </a:r>
            <a:endParaRPr lang="en-US" sz="900" dirty="0"/>
          </a:p>
        </p:txBody>
      </p:sp>
      <p:pic>
        <p:nvPicPr>
          <p:cNvPr id="13" name="img_176" descr="Two-component Gaussian mixture fit to log radius"/>
          <p:cNvPicPr>
            <a:picLocks noChangeAspect="1"/>
          </p:cNvPicPr>
          <p:nvPr/>
        </p:nvPicPr>
        <p:blipFill>
          <a:blip r:embed="rId3"/>
          <a:stretch>
            <a:fillRect/>
          </a:stretch>
        </p:blipFill>
        <p:spPr>
          <a:xfrm>
            <a:off x="548640" y="1554480"/>
            <a:ext cx="6194878" cy="4663440"/>
          </a:xfrm>
          <a:prstGeom prst="rect">
            <a:avLst/>
          </a:prstGeom>
        </p:spPr>
      </p:pic>
      <p:sp>
        <p:nvSpPr>
          <p:cNvPr id="14" name="text_177"/>
          <p:cNvSpPr txBox="1"/>
          <p:nvPr/>
        </p:nvSpPr>
        <p:spPr>
          <a:xfrm>
            <a:off x="7452360" y="1828800"/>
            <a:ext cx="4190695" cy="635000"/>
          </a:xfrm>
          <a:prstGeom prst="rect">
            <a:avLst/>
          </a:prstGeom>
          <a:noFill/>
          <a:ln/>
        </p:spPr>
        <p:txBody>
          <a:bodyPr wrap="square" lIns="0" tIns="0" rIns="0" bIns="0" rtlCol="0" anchor="b"/>
          <a:lstStyle/>
          <a:p>
            <a:pPr marL="0" indent="0">
              <a:buNone/>
            </a:pPr>
            <a:r>
              <a:rPr lang="en-US" sz="4000" b="1" dirty="0">
                <a:solidFill>
                  <a:schemeClr val="accent3"/>
                </a:solidFill>
                <a:latin typeface="Cambria" pitchFamily="34" charset="0"/>
                <a:ea typeface="Cambria" pitchFamily="34" charset="-122"/>
                <a:cs typeface="Cambria" pitchFamily="34" charset="-120"/>
              </a:rPr>
              <a:t>ΔAIC −242</a:t>
            </a:r>
            <a:endParaRPr lang="en-US" sz="4000" dirty="0"/>
          </a:p>
        </p:txBody>
      </p:sp>
      <p:sp>
        <p:nvSpPr>
          <p:cNvPr id="15" name="text_178"/>
          <p:cNvSpPr txBox="1"/>
          <p:nvPr/>
        </p:nvSpPr>
        <p:spPr>
          <a:xfrm>
            <a:off x="7452360" y="2500376"/>
            <a:ext cx="4190695" cy="274320"/>
          </a:xfrm>
          <a:prstGeom prst="rect">
            <a:avLst/>
          </a:prstGeom>
          <a:noFill/>
          <a:ln/>
        </p:spPr>
        <p:txBody>
          <a:bodyPr wrap="square" lIns="0" tIns="0" rIns="0" bIns="0" rtlCol="0" anchor="t"/>
          <a:lstStyle/>
          <a:p>
            <a:pPr marL="0" indent="0">
              <a:buNone/>
            </a:pPr>
            <a:r>
              <a:rPr lang="en-US" sz="1300" dirty="0">
                <a:solidFill>
                  <a:schemeClr val="bg2"/>
                </a:solidFill>
              </a:rPr>
              <a:t>one → two components: decisive</a:t>
            </a:r>
            <a:endParaRPr lang="en-US" sz="1300" dirty="0"/>
          </a:p>
        </p:txBody>
      </p:sp>
      <p:sp>
        <p:nvSpPr>
          <p:cNvPr id="16" name="card_179"/>
          <p:cNvSpPr/>
          <p:nvPr/>
        </p:nvSpPr>
        <p:spPr>
          <a:xfrm>
            <a:off x="7452360" y="3566160"/>
            <a:ext cx="4190695" cy="1828800"/>
          </a:xfrm>
          <a:prstGeom prst="roundRect">
            <a:avLst>
              <a:gd name="adj" fmla="val 6000"/>
            </a:avLst>
          </a:prstGeom>
          <a:solidFill>
            <a:schemeClr val="accent3">
              <a:alpha val="10000"/>
            </a:schemeClr>
          </a:solidFill>
          <a:ln w="9525">
            <a:solidFill>
              <a:schemeClr val="accent3"/>
            </a:solidFill>
            <a:prstDash val="solid"/>
          </a:ln>
        </p:spPr>
        <p:txBody>
          <a:bodyPr/>
          <a:lstStyle/>
          <a:p>
            <a:endParaRPr lang="mk-MK"/>
          </a:p>
        </p:txBody>
      </p:sp>
      <p:sp>
        <p:nvSpPr>
          <p:cNvPr id="17" name="text_180"/>
          <p:cNvSpPr txBox="1"/>
          <p:nvPr/>
        </p:nvSpPr>
        <p:spPr>
          <a:xfrm>
            <a:off x="7726680" y="3767328"/>
            <a:ext cx="3642055" cy="1463040"/>
          </a:xfrm>
          <a:prstGeom prst="rect">
            <a:avLst/>
          </a:prstGeom>
          <a:noFill/>
          <a:ln/>
        </p:spPr>
        <p:txBody>
          <a:bodyPr wrap="square" lIns="0" tIns="0" rIns="0" bIns="0" rtlCol="0" anchor="t"/>
          <a:lstStyle/>
          <a:p>
            <a:pPr marL="0" indent="0">
              <a:buNone/>
            </a:pPr>
            <a:r>
              <a:rPr lang="en-US" sz="1800" b="1" dirty="0">
                <a:solidFill>
                  <a:schemeClr val="accent3"/>
                </a:solidFill>
              </a:rPr>
              <a:t>The trap  </a:t>
            </a:r>
            <a:endParaRPr lang="en-US" sz="1800" dirty="0"/>
          </a:p>
          <a:p>
            <a:pPr marL="0" indent="0">
              <a:buNone/>
            </a:pPr>
            <a:r>
              <a:rPr lang="en-US" sz="1800" dirty="0">
                <a:solidFill>
                  <a:schemeClr val="bg1"/>
                </a:solidFill>
              </a:rPr>
              <a:t>The fitted mixture has a single peak. Two components ≠ two modes.</a:t>
            </a:r>
            <a:endParaRPr lang="en-US" sz="18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Q1 · LOCATING THE GAP</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A density minimum at 1.76 R⊕</a:t>
            </a:r>
            <a:endParaRPr lang="en-US" sz="3400" dirty="0"/>
          </a:p>
        </p:txBody>
      </p:sp>
      <p:sp>
        <p:nvSpPr>
          <p:cNvPr id="4" name="orbit_181"/>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82"/>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83"/>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184"/>
          <p:cNvSpPr/>
          <p:nvPr/>
        </p:nvSpPr>
        <p:spPr>
          <a:xfrm>
            <a:off x="9948367"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8" name="orbit_dot_185"/>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186"/>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187"/>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188"/>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189"/>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Q1 · THE GAP</a:t>
            </a:r>
            <a:endParaRPr lang="en-US" sz="900" dirty="0"/>
          </a:p>
        </p:txBody>
      </p:sp>
      <p:pic>
        <p:nvPicPr>
          <p:cNvPr id="13" name="img_190" descr="Kernel density estimate of log radius with the minimum marked"/>
          <p:cNvPicPr>
            <a:picLocks noChangeAspect="1"/>
          </p:cNvPicPr>
          <p:nvPr/>
        </p:nvPicPr>
        <p:blipFill>
          <a:blip r:embed="rId3"/>
          <a:stretch>
            <a:fillRect/>
          </a:stretch>
        </p:blipFill>
        <p:spPr>
          <a:xfrm>
            <a:off x="548640" y="1554480"/>
            <a:ext cx="7761967" cy="4663440"/>
          </a:xfrm>
          <a:prstGeom prst="rect">
            <a:avLst/>
          </a:prstGeom>
        </p:spPr>
      </p:pic>
      <p:sp>
        <p:nvSpPr>
          <p:cNvPr id="14" name="text_191"/>
          <p:cNvSpPr txBox="1"/>
          <p:nvPr/>
        </p:nvSpPr>
        <p:spPr>
          <a:xfrm>
            <a:off x="9144000" y="2103120"/>
            <a:ext cx="2499055" cy="635000"/>
          </a:xfrm>
          <a:prstGeom prst="rect">
            <a:avLst/>
          </a:prstGeom>
          <a:noFill/>
          <a:ln/>
        </p:spPr>
        <p:txBody>
          <a:bodyPr wrap="square" lIns="0" tIns="0" rIns="0" bIns="0" rtlCol="0" anchor="b"/>
          <a:lstStyle/>
          <a:p>
            <a:pPr marL="0" indent="0">
              <a:buNone/>
            </a:pPr>
            <a:r>
              <a:rPr lang="en-US" sz="4000" b="1" dirty="0">
                <a:solidFill>
                  <a:schemeClr val="accent3"/>
                </a:solidFill>
                <a:latin typeface="Cambria" pitchFamily="34" charset="0"/>
                <a:ea typeface="Cambria" pitchFamily="34" charset="-122"/>
                <a:cs typeface="Cambria" pitchFamily="34" charset="-120"/>
              </a:rPr>
              <a:t>1.76 R⊕</a:t>
            </a:r>
            <a:endParaRPr lang="en-US" sz="4000" dirty="0"/>
          </a:p>
        </p:txBody>
      </p:sp>
      <p:sp>
        <p:nvSpPr>
          <p:cNvPr id="15" name="text_192"/>
          <p:cNvSpPr txBox="1"/>
          <p:nvPr/>
        </p:nvSpPr>
        <p:spPr>
          <a:xfrm>
            <a:off x="9144000" y="2774696"/>
            <a:ext cx="2499055" cy="274320"/>
          </a:xfrm>
          <a:prstGeom prst="rect">
            <a:avLst/>
          </a:prstGeom>
          <a:noFill/>
          <a:ln/>
        </p:spPr>
        <p:txBody>
          <a:bodyPr wrap="square" lIns="0" tIns="0" rIns="0" bIns="0" rtlCol="0" anchor="t"/>
          <a:lstStyle/>
          <a:p>
            <a:pPr marL="0" indent="0">
              <a:buNone/>
            </a:pPr>
            <a:r>
              <a:rPr lang="en-US" sz="1300" dirty="0">
                <a:solidFill>
                  <a:schemeClr val="bg2"/>
                </a:solidFill>
              </a:rPr>
              <a:t>kernel density minimum</a:t>
            </a:r>
            <a:endParaRPr lang="en-US" sz="1300" dirty="0"/>
          </a:p>
        </p:txBody>
      </p:sp>
      <p:sp>
        <p:nvSpPr>
          <p:cNvPr id="16" name="text_193"/>
          <p:cNvSpPr txBox="1"/>
          <p:nvPr/>
        </p:nvSpPr>
        <p:spPr>
          <a:xfrm>
            <a:off x="9144000" y="3520440"/>
            <a:ext cx="2499055" cy="444500"/>
          </a:xfrm>
          <a:prstGeom prst="rect">
            <a:avLst/>
          </a:prstGeom>
          <a:noFill/>
          <a:ln/>
        </p:spPr>
        <p:txBody>
          <a:bodyPr wrap="square" lIns="0" tIns="0" rIns="0" bIns="0" rtlCol="0" anchor="b"/>
          <a:lstStyle/>
          <a:p>
            <a:pPr marL="0" indent="0">
              <a:buNone/>
            </a:pPr>
            <a:r>
              <a:rPr lang="en-US" sz="2800" b="1" dirty="0">
                <a:solidFill>
                  <a:schemeClr val="bg1"/>
                </a:solidFill>
                <a:latin typeface="Cambria" pitchFamily="34" charset="0"/>
                <a:ea typeface="Cambria" pitchFamily="34" charset="-122"/>
                <a:cs typeface="Cambria" pitchFamily="34" charset="-120"/>
              </a:rPr>
              <a:t>1.76–1.80</a:t>
            </a:r>
            <a:endParaRPr lang="en-US" sz="2800" dirty="0"/>
          </a:p>
        </p:txBody>
      </p:sp>
      <p:sp>
        <p:nvSpPr>
          <p:cNvPr id="17" name="text_194"/>
          <p:cNvSpPr txBox="1"/>
          <p:nvPr/>
        </p:nvSpPr>
        <p:spPr>
          <a:xfrm>
            <a:off x="9144000" y="4001516"/>
            <a:ext cx="2499055" cy="274320"/>
          </a:xfrm>
          <a:prstGeom prst="rect">
            <a:avLst/>
          </a:prstGeom>
          <a:noFill/>
          <a:ln/>
        </p:spPr>
        <p:txBody>
          <a:bodyPr wrap="square" lIns="0" tIns="0" rIns="0" bIns="0" rtlCol="0" anchor="t"/>
          <a:lstStyle/>
          <a:p>
            <a:pPr marL="0" indent="0">
              <a:buNone/>
            </a:pPr>
            <a:r>
              <a:rPr lang="en-US" sz="1300" dirty="0">
                <a:solidFill>
                  <a:schemeClr val="bg2"/>
                </a:solidFill>
              </a:rPr>
              <a:t>across smoothing bandwidths</a:t>
            </a:r>
            <a:endParaRPr lang="en-US" sz="13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Q1 · ROBUSTNESS</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The location holds up</a:t>
            </a:r>
            <a:endParaRPr lang="en-US" sz="3400" dirty="0"/>
          </a:p>
        </p:txBody>
      </p:sp>
      <p:sp>
        <p:nvSpPr>
          <p:cNvPr id="4" name="orbit_195"/>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196"/>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197"/>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198"/>
          <p:cNvSpPr/>
          <p:nvPr/>
        </p:nvSpPr>
        <p:spPr>
          <a:xfrm>
            <a:off x="9948367"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8" name="orbit_dot_199"/>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200"/>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201"/>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02"/>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03"/>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Q1 · THE GAP</a:t>
            </a:r>
            <a:endParaRPr lang="en-US" sz="900" dirty="0"/>
          </a:p>
        </p:txBody>
      </p:sp>
      <p:sp>
        <p:nvSpPr>
          <p:cNvPr id="13" name="card_204"/>
          <p:cNvSpPr/>
          <p:nvPr/>
        </p:nvSpPr>
        <p:spPr>
          <a:xfrm>
            <a:off x="548640" y="1691640"/>
            <a:ext cx="5364328" cy="4434840"/>
          </a:xfrm>
          <a:prstGeom prst="roundRect">
            <a:avLst>
              <a:gd name="adj" fmla="val 2474"/>
            </a:avLst>
          </a:prstGeom>
          <a:solidFill>
            <a:schemeClr val="tx2">
              <a:alpha val="82000"/>
            </a:schemeClr>
          </a:solidFill>
          <a:ln w="9525">
            <a:solidFill>
              <a:schemeClr val="accent6"/>
            </a:solidFill>
            <a:prstDash val="solid"/>
          </a:ln>
        </p:spPr>
        <p:txBody>
          <a:bodyPr/>
          <a:lstStyle/>
          <a:p>
            <a:endParaRPr lang="mk-MK"/>
          </a:p>
        </p:txBody>
      </p:sp>
      <p:sp>
        <p:nvSpPr>
          <p:cNvPr id="14" name="text_205"/>
          <p:cNvSpPr txBox="1"/>
          <p:nvPr/>
        </p:nvSpPr>
        <p:spPr>
          <a:xfrm>
            <a:off x="822960" y="1874520"/>
            <a:ext cx="4815688" cy="41148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Resampled 500 times</a:t>
            </a:r>
            <a:r>
              <a:rPr lang="en-US" sz="1600" b="1" dirty="0">
                <a:solidFill>
                  <a:schemeClr val="accent3"/>
                </a:solidFill>
              </a:rPr>
              <a:t>   95% CI 1.67–1.83 R</a:t>
            </a:r>
            <a:r>
              <a:rPr lang="en-US" sz="1600" b="1" dirty="0">
                <a:solidFill>
                  <a:schemeClr val="accent3"/>
                </a:solidFill>
                <a:latin typeface="Cambria" pitchFamily="34" charset="0"/>
                <a:ea typeface="Cambria" pitchFamily="34" charset="-122"/>
                <a:cs typeface="Cambria" pitchFamily="34" charset="-120"/>
              </a:rPr>
              <a:t>⊕</a:t>
            </a:r>
            <a:endParaRPr lang="en-US" sz="1500" dirty="0"/>
          </a:p>
        </p:txBody>
      </p:sp>
      <p:pic>
        <p:nvPicPr>
          <p:cNvPr id="15" name="img_206" descr="Bootstrap distribution of gap location"/>
          <p:cNvPicPr>
            <a:picLocks noChangeAspect="1"/>
          </p:cNvPicPr>
          <p:nvPr/>
        </p:nvPicPr>
        <p:blipFill>
          <a:blip r:embed="rId3"/>
          <a:stretch>
            <a:fillRect/>
          </a:stretch>
        </p:blipFill>
        <p:spPr>
          <a:xfrm>
            <a:off x="777240" y="2478449"/>
            <a:ext cx="4907128" cy="3501302"/>
          </a:xfrm>
          <a:prstGeom prst="rect">
            <a:avLst/>
          </a:prstGeom>
        </p:spPr>
      </p:pic>
      <p:sp>
        <p:nvSpPr>
          <p:cNvPr id="16" name="card_207"/>
          <p:cNvSpPr/>
          <p:nvPr/>
        </p:nvSpPr>
        <p:spPr>
          <a:xfrm>
            <a:off x="6278728" y="1691640"/>
            <a:ext cx="5364328" cy="4434840"/>
          </a:xfrm>
          <a:prstGeom prst="roundRect">
            <a:avLst>
              <a:gd name="adj" fmla="val 2474"/>
            </a:avLst>
          </a:prstGeom>
          <a:solidFill>
            <a:schemeClr val="tx2">
              <a:alpha val="82000"/>
            </a:schemeClr>
          </a:solidFill>
          <a:ln w="9525">
            <a:solidFill>
              <a:schemeClr val="accent6"/>
            </a:solidFill>
            <a:prstDash val="solid"/>
          </a:ln>
        </p:spPr>
        <p:txBody>
          <a:bodyPr/>
          <a:lstStyle/>
          <a:p>
            <a:endParaRPr lang="mk-MK"/>
          </a:p>
        </p:txBody>
      </p:sp>
      <p:sp>
        <p:nvSpPr>
          <p:cNvPr id="17" name="text_208"/>
          <p:cNvSpPr txBox="1"/>
          <p:nvPr/>
        </p:nvSpPr>
        <p:spPr>
          <a:xfrm>
            <a:off x="6553048" y="1874520"/>
            <a:ext cx="4815688" cy="41148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Rebuilt four ways</a:t>
            </a:r>
            <a:r>
              <a:rPr lang="en-US" sz="1600" b="1" dirty="0">
                <a:solidFill>
                  <a:schemeClr val="accent3"/>
                </a:solidFill>
              </a:rPr>
              <a:t>   all within 0.03 R</a:t>
            </a:r>
            <a:r>
              <a:rPr lang="en-US" sz="1600" b="1" dirty="0">
                <a:solidFill>
                  <a:schemeClr val="accent3"/>
                </a:solidFill>
                <a:latin typeface="Cambria" pitchFamily="34" charset="0"/>
                <a:ea typeface="Cambria" pitchFamily="34" charset="-122"/>
                <a:cs typeface="Cambria" pitchFamily="34" charset="-120"/>
              </a:rPr>
              <a:t>⊕</a:t>
            </a:r>
            <a:endParaRPr lang="en-US" sz="1500" dirty="0"/>
          </a:p>
        </p:txBody>
      </p:sp>
      <p:pic>
        <p:nvPicPr>
          <p:cNvPr id="18" name="img_209" descr="Gap location for four filtering variants"/>
          <p:cNvPicPr>
            <a:picLocks noChangeAspect="1"/>
          </p:cNvPicPr>
          <p:nvPr/>
        </p:nvPicPr>
        <p:blipFill>
          <a:blip r:embed="rId4"/>
          <a:stretch>
            <a:fillRect/>
          </a:stretch>
        </p:blipFill>
        <p:spPr>
          <a:xfrm>
            <a:off x="6507328" y="2504367"/>
            <a:ext cx="4907128" cy="3449466"/>
          </a:xfrm>
          <a:prstGeom prst="rect">
            <a:avLst/>
          </a:prstGeom>
        </p:spPr>
      </p:pic>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Q1 · THE HONEST CAVEAT</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Robust in position — shallow in depth</a:t>
            </a:r>
            <a:endParaRPr lang="en-US" sz="3400" dirty="0"/>
          </a:p>
        </p:txBody>
      </p:sp>
      <p:sp>
        <p:nvSpPr>
          <p:cNvPr id="4" name="orbit_210"/>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11"/>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12"/>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13"/>
          <p:cNvSpPr/>
          <p:nvPr/>
        </p:nvSpPr>
        <p:spPr>
          <a:xfrm>
            <a:off x="9948367"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8" name="orbit_dot_214"/>
          <p:cNvSpPr/>
          <p:nvPr/>
        </p:nvSpPr>
        <p:spPr>
          <a:xfrm>
            <a:off x="10376611"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9" name="orbit_dot_215"/>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216"/>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17"/>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18"/>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Q1 · THE GAP</a:t>
            </a:r>
            <a:endParaRPr lang="en-US" sz="900" dirty="0"/>
          </a:p>
        </p:txBody>
      </p:sp>
      <p:pic>
        <p:nvPicPr>
          <p:cNvPr id="13" name="img_219" descr="Zoom on the KDE valley showing peak and valley densities"/>
          <p:cNvPicPr>
            <a:picLocks noChangeAspect="1"/>
          </p:cNvPicPr>
          <p:nvPr/>
        </p:nvPicPr>
        <p:blipFill>
          <a:blip r:embed="rId3"/>
          <a:stretch>
            <a:fillRect/>
          </a:stretch>
        </p:blipFill>
        <p:spPr>
          <a:xfrm>
            <a:off x="548640" y="1674608"/>
            <a:ext cx="5486400" cy="4423184"/>
          </a:xfrm>
          <a:prstGeom prst="rect">
            <a:avLst/>
          </a:prstGeom>
        </p:spPr>
      </p:pic>
      <p:sp>
        <p:nvSpPr>
          <p:cNvPr id="14" name="card_220"/>
          <p:cNvSpPr/>
          <p:nvPr/>
        </p:nvSpPr>
        <p:spPr>
          <a:xfrm>
            <a:off x="6583680" y="1828800"/>
            <a:ext cx="2369668" cy="2103120"/>
          </a:xfrm>
          <a:prstGeom prst="roundRect">
            <a:avLst>
              <a:gd name="adj" fmla="val 5217"/>
            </a:avLst>
          </a:prstGeom>
          <a:solidFill>
            <a:schemeClr val="accent3">
              <a:alpha val="10000"/>
            </a:schemeClr>
          </a:solidFill>
          <a:ln w="9525">
            <a:solidFill>
              <a:schemeClr val="accent3"/>
            </a:solidFill>
            <a:prstDash val="solid"/>
          </a:ln>
        </p:spPr>
        <p:txBody>
          <a:bodyPr/>
          <a:lstStyle/>
          <a:p>
            <a:endParaRPr lang="mk-MK"/>
          </a:p>
        </p:txBody>
      </p:sp>
      <p:sp>
        <p:nvSpPr>
          <p:cNvPr id="15" name="card_221"/>
          <p:cNvSpPr/>
          <p:nvPr/>
        </p:nvSpPr>
        <p:spPr>
          <a:xfrm>
            <a:off x="9273388" y="1828800"/>
            <a:ext cx="2369668" cy="2103120"/>
          </a:xfrm>
          <a:prstGeom prst="roundRect">
            <a:avLst>
              <a:gd name="adj" fmla="val 5217"/>
            </a:avLst>
          </a:prstGeom>
          <a:solidFill>
            <a:schemeClr val="tx2">
              <a:alpha val="82000"/>
            </a:schemeClr>
          </a:solidFill>
          <a:ln w="9525">
            <a:solidFill>
              <a:schemeClr val="accent6"/>
            </a:solidFill>
            <a:prstDash val="solid"/>
          </a:ln>
        </p:spPr>
        <p:txBody>
          <a:bodyPr/>
          <a:lstStyle/>
          <a:p>
            <a:endParaRPr lang="mk-MK"/>
          </a:p>
        </p:txBody>
      </p:sp>
      <p:sp>
        <p:nvSpPr>
          <p:cNvPr id="16" name="text_222"/>
          <p:cNvSpPr txBox="1"/>
          <p:nvPr/>
        </p:nvSpPr>
        <p:spPr>
          <a:xfrm>
            <a:off x="6858000" y="2011680"/>
            <a:ext cx="1821028" cy="857250"/>
          </a:xfrm>
          <a:prstGeom prst="rect">
            <a:avLst/>
          </a:prstGeom>
          <a:noFill/>
          <a:ln/>
        </p:spPr>
        <p:txBody>
          <a:bodyPr wrap="square" lIns="0" tIns="0" rIns="0" bIns="0" rtlCol="0" anchor="b"/>
          <a:lstStyle/>
          <a:p>
            <a:pPr marL="0" indent="0">
              <a:buNone/>
            </a:pPr>
            <a:r>
              <a:rPr lang="en-US" sz="5400" b="1" dirty="0">
                <a:solidFill>
                  <a:schemeClr val="accent3"/>
                </a:solidFill>
                <a:latin typeface="Cambria" pitchFamily="34" charset="0"/>
                <a:ea typeface="Cambria" pitchFamily="34" charset="-122"/>
                <a:cs typeface="Cambria" pitchFamily="34" charset="-120"/>
              </a:rPr>
              <a:t>2.4%</a:t>
            </a:r>
            <a:endParaRPr lang="en-US" sz="5400" dirty="0"/>
          </a:p>
        </p:txBody>
      </p:sp>
      <p:sp>
        <p:nvSpPr>
          <p:cNvPr id="17" name="text_223"/>
          <p:cNvSpPr txBox="1"/>
          <p:nvPr/>
        </p:nvSpPr>
        <p:spPr>
          <a:xfrm>
            <a:off x="6858000" y="2905506"/>
            <a:ext cx="1821028" cy="548640"/>
          </a:xfrm>
          <a:prstGeom prst="rect">
            <a:avLst/>
          </a:prstGeom>
          <a:noFill/>
          <a:ln/>
        </p:spPr>
        <p:txBody>
          <a:bodyPr wrap="square" lIns="0" tIns="0" rIns="0" bIns="0" rtlCol="0" anchor="t"/>
          <a:lstStyle/>
          <a:p>
            <a:pPr marL="0" indent="0">
              <a:buNone/>
            </a:pPr>
            <a:r>
              <a:rPr lang="en-US" sz="1300" dirty="0">
                <a:solidFill>
                  <a:schemeClr val="bg2"/>
                </a:solidFill>
              </a:rPr>
              <a:t>deep, in this sample</a:t>
            </a:r>
            <a:endParaRPr lang="en-US" sz="1300" dirty="0"/>
          </a:p>
        </p:txBody>
      </p:sp>
      <p:sp>
        <p:nvSpPr>
          <p:cNvPr id="18" name="text_224"/>
          <p:cNvSpPr txBox="1"/>
          <p:nvPr/>
        </p:nvSpPr>
        <p:spPr>
          <a:xfrm>
            <a:off x="9547708" y="2011680"/>
            <a:ext cx="1821028" cy="857250"/>
          </a:xfrm>
          <a:prstGeom prst="rect">
            <a:avLst/>
          </a:prstGeom>
          <a:noFill/>
          <a:ln/>
        </p:spPr>
        <p:txBody>
          <a:bodyPr wrap="square" lIns="0" tIns="0" rIns="0" bIns="0" rtlCol="0" anchor="b"/>
          <a:lstStyle/>
          <a:p>
            <a:pPr marL="0" indent="0">
              <a:buNone/>
            </a:pPr>
            <a:r>
              <a:rPr lang="en-US" sz="5400" b="1" dirty="0">
                <a:solidFill>
                  <a:schemeClr val="bg1"/>
                </a:solidFill>
                <a:latin typeface="Cambria" pitchFamily="34" charset="0"/>
                <a:ea typeface="Cambria" pitchFamily="34" charset="-122"/>
                <a:cs typeface="Cambria" pitchFamily="34" charset="-120"/>
              </a:rPr>
              <a:t>≈ 2×</a:t>
            </a:r>
            <a:endParaRPr lang="en-US" sz="5400" dirty="0"/>
          </a:p>
        </p:txBody>
      </p:sp>
      <p:sp>
        <p:nvSpPr>
          <p:cNvPr id="19" name="text_225"/>
          <p:cNvSpPr txBox="1"/>
          <p:nvPr/>
        </p:nvSpPr>
        <p:spPr>
          <a:xfrm>
            <a:off x="9547708" y="2905506"/>
            <a:ext cx="1821028" cy="548640"/>
          </a:xfrm>
          <a:prstGeom prst="rect">
            <a:avLst/>
          </a:prstGeom>
          <a:noFill/>
          <a:ln/>
        </p:spPr>
        <p:txBody>
          <a:bodyPr wrap="square" lIns="0" tIns="0" rIns="0" bIns="0" rtlCol="0" anchor="t"/>
          <a:lstStyle/>
          <a:p>
            <a:pPr marL="0" indent="0">
              <a:buNone/>
            </a:pPr>
            <a:r>
              <a:rPr lang="en-US" sz="1300" dirty="0">
                <a:solidFill>
                  <a:schemeClr val="bg2"/>
                </a:solidFill>
              </a:rPr>
              <a:t>deficit in Fulton et al.</a:t>
            </a:r>
            <a:endParaRPr lang="en-US" sz="1300" dirty="0"/>
          </a:p>
        </p:txBody>
      </p:sp>
      <p:sp>
        <p:nvSpPr>
          <p:cNvPr id="20" name="text_226"/>
          <p:cNvSpPr txBox="1"/>
          <p:nvPr/>
        </p:nvSpPr>
        <p:spPr>
          <a:xfrm>
            <a:off x="6583680" y="4434840"/>
            <a:ext cx="5059375" cy="822960"/>
          </a:xfrm>
          <a:prstGeom prst="rect">
            <a:avLst/>
          </a:prstGeom>
          <a:noFill/>
          <a:ln/>
        </p:spPr>
        <p:txBody>
          <a:bodyPr wrap="square" lIns="0" tIns="0" rIns="0" bIns="0" rtlCol="0" anchor="t"/>
          <a:lstStyle/>
          <a:p>
            <a:pPr marL="0" indent="0">
              <a:buNone/>
            </a:pPr>
            <a:r>
              <a:rPr lang="en-US" sz="1800" dirty="0">
                <a:solidFill>
                  <a:schemeClr val="bg1"/>
                </a:solidFill>
                <a:latin typeface="Cambria" pitchFamily="34" charset="0"/>
                <a:ea typeface="Cambria" pitchFamily="34" charset="-122"/>
                <a:cs typeface="Cambria" pitchFamily="34" charset="-120"/>
              </a:rPr>
              <a:t>Pooled archive data, with no completeness correction, blurs the valley.</a:t>
            </a:r>
            <a:endParaRPr lang="en-US" sz="18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Q2 · FORMAL TESTS</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Same data, opposite verdicts</a:t>
            </a:r>
            <a:endParaRPr lang="en-US" sz="3400" dirty="0"/>
          </a:p>
        </p:txBody>
      </p:sp>
      <p:sp>
        <p:nvSpPr>
          <p:cNvPr id="4" name="orbit_227"/>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28"/>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29"/>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30"/>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231"/>
          <p:cNvSpPr/>
          <p:nvPr/>
        </p:nvSpPr>
        <p:spPr>
          <a:xfrm>
            <a:off x="10335463"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9" name="orbit_dot_232"/>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233"/>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34"/>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35"/>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Q2 · MODALITY</a:t>
            </a:r>
            <a:endParaRPr lang="en-US" sz="900" dirty="0"/>
          </a:p>
        </p:txBody>
      </p:sp>
      <p:sp>
        <p:nvSpPr>
          <p:cNvPr id="13" name="card_236"/>
          <p:cNvSpPr/>
          <p:nvPr/>
        </p:nvSpPr>
        <p:spPr>
          <a:xfrm>
            <a:off x="548640" y="1737360"/>
            <a:ext cx="5341468" cy="3108960"/>
          </a:xfrm>
          <a:prstGeom prst="roundRect">
            <a:avLst>
              <a:gd name="adj" fmla="val 3529"/>
            </a:avLst>
          </a:prstGeom>
          <a:solidFill>
            <a:schemeClr val="tx2">
              <a:alpha val="82000"/>
            </a:schemeClr>
          </a:solidFill>
          <a:ln w="9525">
            <a:solidFill>
              <a:schemeClr val="accent6"/>
            </a:solidFill>
            <a:prstDash val="solid"/>
          </a:ln>
        </p:spPr>
        <p:txBody>
          <a:bodyPr/>
          <a:lstStyle/>
          <a:p>
            <a:endParaRPr lang="mk-MK"/>
          </a:p>
        </p:txBody>
      </p:sp>
      <p:sp>
        <p:nvSpPr>
          <p:cNvPr id="14" name="text_237"/>
          <p:cNvSpPr txBox="1"/>
          <p:nvPr/>
        </p:nvSpPr>
        <p:spPr>
          <a:xfrm>
            <a:off x="914400" y="2057400"/>
            <a:ext cx="4609948" cy="36576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Silverman’s test</a:t>
            </a:r>
            <a:endParaRPr lang="en-US" sz="2000" dirty="0"/>
          </a:p>
        </p:txBody>
      </p:sp>
      <p:sp>
        <p:nvSpPr>
          <p:cNvPr id="15" name="text_238"/>
          <p:cNvSpPr txBox="1"/>
          <p:nvPr/>
        </p:nvSpPr>
        <p:spPr>
          <a:xfrm>
            <a:off x="914400" y="2468880"/>
            <a:ext cx="4609948" cy="91440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p = 0.028</a:t>
            </a:r>
            <a:endParaRPr lang="en-US" sz="6000" dirty="0"/>
          </a:p>
        </p:txBody>
      </p:sp>
      <p:sp>
        <p:nvSpPr>
          <p:cNvPr id="16" name="text_239"/>
          <p:cNvSpPr txBox="1"/>
          <p:nvPr/>
        </p:nvSpPr>
        <p:spPr>
          <a:xfrm>
            <a:off x="914400" y="3429000"/>
            <a:ext cx="4609948" cy="365760"/>
          </a:xfrm>
          <a:prstGeom prst="rect">
            <a:avLst/>
          </a:prstGeom>
          <a:noFill/>
          <a:ln/>
        </p:spPr>
        <p:txBody>
          <a:bodyPr wrap="square" lIns="0" tIns="0" rIns="0" bIns="0" rtlCol="0" anchor="t"/>
          <a:lstStyle/>
          <a:p>
            <a:pPr marL="0" indent="0">
              <a:buNone/>
            </a:pPr>
            <a:r>
              <a:rPr lang="en-US" sz="1800" b="1" dirty="0">
                <a:solidFill>
                  <a:schemeClr val="accent1"/>
                </a:solidFill>
              </a:rPr>
              <a:t>rejects unimodality</a:t>
            </a:r>
            <a:endParaRPr lang="en-US" sz="1800" dirty="0"/>
          </a:p>
        </p:txBody>
      </p:sp>
      <p:sp>
        <p:nvSpPr>
          <p:cNvPr id="17" name="text_240"/>
          <p:cNvSpPr txBox="1"/>
          <p:nvPr/>
        </p:nvSpPr>
        <p:spPr>
          <a:xfrm>
            <a:off x="914400" y="4114800"/>
            <a:ext cx="4609948" cy="365760"/>
          </a:xfrm>
          <a:prstGeom prst="rect">
            <a:avLst/>
          </a:prstGeom>
          <a:noFill/>
          <a:ln/>
        </p:spPr>
        <p:txBody>
          <a:bodyPr wrap="square" lIns="0" tIns="0" rIns="0" bIns="0" rtlCol="0" anchor="t"/>
          <a:lstStyle/>
          <a:p>
            <a:pPr marL="0" indent="0">
              <a:buNone/>
            </a:pPr>
            <a:r>
              <a:rPr lang="en-US" sz="1600" dirty="0">
                <a:solidFill>
                  <a:schemeClr val="bg2"/>
                </a:solidFill>
              </a:rPr>
              <a:t>Sensitive to  </a:t>
            </a:r>
            <a:r>
              <a:rPr lang="en-US" sz="1600" dirty="0">
                <a:solidFill>
                  <a:schemeClr val="bg1"/>
                </a:solidFill>
              </a:rPr>
              <a:t>whether a second mode exists</a:t>
            </a:r>
            <a:endParaRPr lang="en-US" sz="1600" dirty="0"/>
          </a:p>
        </p:txBody>
      </p:sp>
      <p:sp>
        <p:nvSpPr>
          <p:cNvPr id="18" name="card_241"/>
          <p:cNvSpPr/>
          <p:nvPr/>
        </p:nvSpPr>
        <p:spPr>
          <a:xfrm>
            <a:off x="6301588" y="1737360"/>
            <a:ext cx="5341468" cy="3108960"/>
          </a:xfrm>
          <a:prstGeom prst="roundRect">
            <a:avLst>
              <a:gd name="adj" fmla="val 3529"/>
            </a:avLst>
          </a:prstGeom>
          <a:solidFill>
            <a:schemeClr val="tx2">
              <a:alpha val="82000"/>
            </a:schemeClr>
          </a:solidFill>
          <a:ln w="9525">
            <a:solidFill>
              <a:schemeClr val="accent6"/>
            </a:solidFill>
            <a:prstDash val="solid"/>
          </a:ln>
        </p:spPr>
        <p:txBody>
          <a:bodyPr/>
          <a:lstStyle/>
          <a:p>
            <a:endParaRPr lang="mk-MK"/>
          </a:p>
        </p:txBody>
      </p:sp>
      <p:sp>
        <p:nvSpPr>
          <p:cNvPr id="19" name="text_242"/>
          <p:cNvSpPr txBox="1"/>
          <p:nvPr/>
        </p:nvSpPr>
        <p:spPr>
          <a:xfrm>
            <a:off x="6667348" y="2057400"/>
            <a:ext cx="4609948" cy="36576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Hartigan’s dip test</a:t>
            </a:r>
            <a:endParaRPr lang="en-US" sz="2000" dirty="0"/>
          </a:p>
        </p:txBody>
      </p:sp>
      <p:sp>
        <p:nvSpPr>
          <p:cNvPr id="20" name="text_243"/>
          <p:cNvSpPr txBox="1"/>
          <p:nvPr/>
        </p:nvSpPr>
        <p:spPr>
          <a:xfrm>
            <a:off x="6667348" y="2468880"/>
            <a:ext cx="4609948" cy="914400"/>
          </a:xfrm>
          <a:prstGeom prst="rect">
            <a:avLst/>
          </a:prstGeom>
          <a:noFill/>
          <a:ln/>
        </p:spPr>
        <p:txBody>
          <a:bodyPr wrap="square" lIns="0" tIns="0" rIns="0" bIns="0" rtlCol="0" anchor="ctr"/>
          <a:lstStyle/>
          <a:p>
            <a:pPr marL="0" indent="0">
              <a:buNone/>
            </a:pPr>
            <a:r>
              <a:rPr lang="en-US" sz="6000" b="1" dirty="0">
                <a:solidFill>
                  <a:schemeClr val="accent2"/>
                </a:solidFill>
                <a:latin typeface="Cambria" pitchFamily="34" charset="0"/>
                <a:ea typeface="Cambria" pitchFamily="34" charset="-122"/>
                <a:cs typeface="Cambria" pitchFamily="34" charset="-120"/>
              </a:rPr>
              <a:t>p = 0.52</a:t>
            </a:r>
            <a:endParaRPr lang="en-US" sz="6000" dirty="0"/>
          </a:p>
        </p:txBody>
      </p:sp>
      <p:sp>
        <p:nvSpPr>
          <p:cNvPr id="21" name="text_244"/>
          <p:cNvSpPr txBox="1"/>
          <p:nvPr/>
        </p:nvSpPr>
        <p:spPr>
          <a:xfrm>
            <a:off x="6667348" y="3429000"/>
            <a:ext cx="4609948" cy="365760"/>
          </a:xfrm>
          <a:prstGeom prst="rect">
            <a:avLst/>
          </a:prstGeom>
          <a:noFill/>
          <a:ln/>
        </p:spPr>
        <p:txBody>
          <a:bodyPr wrap="square" lIns="0" tIns="0" rIns="0" bIns="0" rtlCol="0" anchor="t"/>
          <a:lstStyle/>
          <a:p>
            <a:pPr marL="0" indent="0">
              <a:buNone/>
            </a:pPr>
            <a:r>
              <a:rPr lang="en-US" sz="1800" b="1" dirty="0">
                <a:solidFill>
                  <a:schemeClr val="accent2"/>
                </a:solidFill>
              </a:rPr>
              <a:t>does not reject</a:t>
            </a:r>
            <a:endParaRPr lang="en-US" sz="1800" dirty="0"/>
          </a:p>
        </p:txBody>
      </p:sp>
      <p:sp>
        <p:nvSpPr>
          <p:cNvPr id="22" name="text_245"/>
          <p:cNvSpPr txBox="1"/>
          <p:nvPr/>
        </p:nvSpPr>
        <p:spPr>
          <a:xfrm>
            <a:off x="6667348" y="4114800"/>
            <a:ext cx="4609948" cy="365760"/>
          </a:xfrm>
          <a:prstGeom prst="rect">
            <a:avLst/>
          </a:prstGeom>
          <a:noFill/>
          <a:ln/>
        </p:spPr>
        <p:txBody>
          <a:bodyPr wrap="square" lIns="0" tIns="0" rIns="0" bIns="0" rtlCol="0" anchor="t"/>
          <a:lstStyle/>
          <a:p>
            <a:pPr marL="0" indent="0">
              <a:buNone/>
            </a:pPr>
            <a:r>
              <a:rPr lang="en-US" sz="1600" dirty="0">
                <a:solidFill>
                  <a:schemeClr val="bg2"/>
                </a:solidFill>
              </a:rPr>
              <a:t>Sensitive to  </a:t>
            </a:r>
            <a:r>
              <a:rPr lang="en-US" sz="1600" dirty="0">
                <a:solidFill>
                  <a:schemeClr val="bg1"/>
                </a:solidFill>
              </a:rPr>
              <a:t>how deep the valley is</a:t>
            </a:r>
            <a:endParaRPr lang="en-US" sz="1600" dirty="0"/>
          </a:p>
        </p:txBody>
      </p:sp>
      <p:sp>
        <p:nvSpPr>
          <p:cNvPr id="23" name="text_246"/>
          <p:cNvSpPr txBox="1"/>
          <p:nvPr/>
        </p:nvSpPr>
        <p:spPr>
          <a:xfrm>
            <a:off x="548640" y="5303520"/>
            <a:ext cx="11094415" cy="457200"/>
          </a:xfrm>
          <a:prstGeom prst="rect">
            <a:avLst/>
          </a:prstGeom>
          <a:noFill/>
          <a:ln/>
        </p:spPr>
        <p:txBody>
          <a:bodyPr wrap="square" lIns="0" tIns="0" rIns="0" bIns="0" rtlCol="0" anchor="t"/>
          <a:lstStyle/>
          <a:p>
            <a:pPr marL="0" indent="0">
              <a:buNone/>
            </a:pPr>
            <a:r>
              <a:rPr lang="en-US" sz="1900" i="1" dirty="0">
                <a:solidFill>
                  <a:schemeClr val="accent3"/>
                </a:solidFill>
                <a:latin typeface="Cambria" pitchFamily="34" charset="0"/>
                <a:ea typeface="Cambria" pitchFamily="34" charset="-122"/>
                <a:cs typeface="Cambria" pitchFamily="34" charset="-120"/>
              </a:rPr>
              <a:t>A shallow but genuine second mode is exactly where these two tests part company.</a:t>
            </a:r>
            <a:endParaRPr lang="en-US" sz="19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Q2 · VERIFYING THE CLAIM</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The dip test isn’t weak — the valley is shallow</a:t>
            </a:r>
            <a:endParaRPr lang="en-US" sz="3400" dirty="0"/>
          </a:p>
        </p:txBody>
      </p:sp>
      <p:sp>
        <p:nvSpPr>
          <p:cNvPr id="4" name="orbit_247"/>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48"/>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49"/>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50"/>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251"/>
          <p:cNvSpPr/>
          <p:nvPr/>
        </p:nvSpPr>
        <p:spPr>
          <a:xfrm>
            <a:off x="10335463"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9" name="orbit_dot_252"/>
          <p:cNvSpPr/>
          <p:nvPr/>
        </p:nvSpPr>
        <p:spPr>
          <a:xfrm>
            <a:off x="10763707"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0" name="orbit_dot_253"/>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54"/>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55"/>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Q2 · MODALITY</a:t>
            </a:r>
            <a:endParaRPr lang="en-US" sz="900" dirty="0"/>
          </a:p>
        </p:txBody>
      </p:sp>
      <p:pic>
        <p:nvPicPr>
          <p:cNvPr id="13" name="img_256" descr="Dip-test power for four simulated scenarios"/>
          <p:cNvPicPr>
            <a:picLocks noChangeAspect="1"/>
          </p:cNvPicPr>
          <p:nvPr/>
        </p:nvPicPr>
        <p:blipFill>
          <a:blip r:embed="rId3"/>
          <a:stretch>
            <a:fillRect/>
          </a:stretch>
        </p:blipFill>
        <p:spPr>
          <a:xfrm>
            <a:off x="548640" y="1783154"/>
            <a:ext cx="6583680" cy="4206092"/>
          </a:xfrm>
          <a:prstGeom prst="rect">
            <a:avLst/>
          </a:prstGeom>
        </p:spPr>
      </p:pic>
      <p:sp>
        <p:nvSpPr>
          <p:cNvPr id="14" name="text_257"/>
          <p:cNvSpPr txBox="1"/>
          <p:nvPr/>
        </p:nvSpPr>
        <p:spPr>
          <a:xfrm>
            <a:off x="7635240" y="1920240"/>
            <a:ext cx="4007815" cy="1463040"/>
          </a:xfrm>
          <a:prstGeom prst="rect">
            <a:avLst/>
          </a:prstGeom>
          <a:noFill/>
          <a:ln/>
        </p:spPr>
        <p:txBody>
          <a:bodyPr wrap="square" lIns="0" tIns="0" rIns="0" bIns="0" rtlCol="0" anchor="t"/>
          <a:lstStyle/>
          <a:p>
            <a:pPr marL="0" indent="0">
              <a:buNone/>
            </a:pPr>
            <a:r>
              <a:rPr lang="en-US" sz="1900" dirty="0">
                <a:solidFill>
                  <a:schemeClr val="bg1"/>
                </a:solidFill>
                <a:latin typeface="Cambria" pitchFamily="34" charset="0"/>
                <a:ea typeface="Cambria" pitchFamily="34" charset="-122"/>
                <a:cs typeface="Cambria" pitchFamily="34" charset="-120"/>
              </a:rPr>
              <a:t>At n = 2,587 the dip test finds a pronounced gap every time — and this sample’s shape never.</a:t>
            </a:r>
            <a:endParaRPr lang="en-US" sz="1900" dirty="0"/>
          </a:p>
        </p:txBody>
      </p:sp>
      <p:sp>
        <p:nvSpPr>
          <p:cNvPr id="15" name="card_258"/>
          <p:cNvSpPr/>
          <p:nvPr/>
        </p:nvSpPr>
        <p:spPr>
          <a:xfrm>
            <a:off x="7635240" y="3931920"/>
            <a:ext cx="4007815" cy="1143000"/>
          </a:xfrm>
          <a:prstGeom prst="roundRect">
            <a:avLst>
              <a:gd name="adj" fmla="val 9600"/>
            </a:avLst>
          </a:prstGeom>
          <a:solidFill>
            <a:schemeClr val="tx2">
              <a:alpha val="82000"/>
            </a:schemeClr>
          </a:solidFill>
          <a:ln w="9525">
            <a:solidFill>
              <a:schemeClr val="accent6"/>
            </a:solidFill>
            <a:prstDash val="solid"/>
          </a:ln>
        </p:spPr>
        <p:txBody>
          <a:bodyPr/>
          <a:lstStyle/>
          <a:p>
            <a:endParaRPr lang="mk-MK"/>
          </a:p>
        </p:txBody>
      </p:sp>
      <p:sp>
        <p:nvSpPr>
          <p:cNvPr id="16" name="text_259"/>
          <p:cNvSpPr txBox="1"/>
          <p:nvPr/>
        </p:nvSpPr>
        <p:spPr>
          <a:xfrm>
            <a:off x="7909560" y="4069080"/>
            <a:ext cx="3459175" cy="914400"/>
          </a:xfrm>
          <a:prstGeom prst="rect">
            <a:avLst/>
          </a:prstGeom>
          <a:noFill/>
          <a:ln/>
        </p:spPr>
        <p:txBody>
          <a:bodyPr wrap="square" lIns="0" tIns="0" rIns="0" bIns="0" rtlCol="0" anchor="t"/>
          <a:lstStyle/>
          <a:p>
            <a:pPr marL="0" indent="0">
              <a:buNone/>
            </a:pPr>
            <a:r>
              <a:rPr lang="en-US" sz="1500" b="1" dirty="0">
                <a:solidFill>
                  <a:schemeClr val="accent1"/>
                </a:solidFill>
              </a:rPr>
              <a:t>Silverman, done right</a:t>
            </a:r>
            <a:endParaRPr lang="en-US" sz="1500" dirty="0"/>
          </a:p>
          <a:p>
            <a:pPr marL="0" indent="0">
              <a:buNone/>
            </a:pPr>
            <a:r>
              <a:rPr lang="en-US" sz="1500" dirty="0">
                <a:solidFill>
                  <a:schemeClr val="accent5"/>
                </a:solidFill>
              </a:rPr>
              <a:t>naive bootstrap p = 0.54 → smoothed bootstrap p = 0.028</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Q3 · CLASSIFICATION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Predicting the side of the gap — without radius</a:t>
            </a:r>
            <a:endParaRPr lang="en-US" sz="3400" dirty="0"/>
          </a:p>
        </p:txBody>
      </p:sp>
      <p:sp>
        <p:nvSpPr>
          <p:cNvPr id="4" name="orbit_260"/>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61"/>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62"/>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63"/>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264"/>
          <p:cNvSpPr/>
          <p:nvPr/>
        </p:nvSpPr>
        <p:spPr>
          <a:xfrm>
            <a:off x="10376611"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9" name="orbit_dot_265"/>
          <p:cNvSpPr/>
          <p:nvPr/>
        </p:nvSpPr>
        <p:spPr>
          <a:xfrm>
            <a:off x="10722559"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10" name="orbit_dot_266"/>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67"/>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68"/>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Q3 · PREDICTORS</a:t>
            </a:r>
            <a:endParaRPr lang="en-US" sz="900" dirty="0"/>
          </a:p>
        </p:txBody>
      </p:sp>
      <p:sp>
        <p:nvSpPr>
          <p:cNvPr id="13" name="step_269"/>
          <p:cNvSpPr/>
          <p:nvPr/>
        </p:nvSpPr>
        <p:spPr>
          <a:xfrm>
            <a:off x="548640" y="1965960"/>
            <a:ext cx="420624" cy="420624"/>
          </a:xfrm>
          <a:prstGeom prst="ellipse">
            <a:avLst/>
          </a:prstGeom>
          <a:solidFill>
            <a:schemeClr val="accent4">
              <a:alpha val="85000"/>
            </a:schemeClr>
          </a:solidFill>
          <a:ln w="9525">
            <a:solidFill>
              <a:schemeClr val="accent4"/>
            </a:solidFill>
            <a:prstDash val="solid"/>
          </a:ln>
        </p:spPr>
        <p:txBody>
          <a:bodyPr/>
          <a:lstStyle/>
          <a:p>
            <a:endParaRPr lang="mk-MK"/>
          </a:p>
        </p:txBody>
      </p:sp>
      <p:sp>
        <p:nvSpPr>
          <p:cNvPr id="14" name="text_270"/>
          <p:cNvSpPr txBox="1"/>
          <p:nvPr/>
        </p:nvSpPr>
        <p:spPr>
          <a:xfrm>
            <a:off x="548640" y="196596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5" name="text_271"/>
          <p:cNvSpPr txBox="1"/>
          <p:nvPr/>
        </p:nvSpPr>
        <p:spPr>
          <a:xfrm>
            <a:off x="1188720" y="1929384"/>
            <a:ext cx="3566160" cy="548640"/>
          </a:xfrm>
          <a:prstGeom prst="rect">
            <a:avLst/>
          </a:prstGeom>
          <a:noFill/>
          <a:ln/>
        </p:spPr>
        <p:txBody>
          <a:bodyPr wrap="square" lIns="0" tIns="0" rIns="0" bIns="0" rtlCol="0" anchor="ctr"/>
          <a:lstStyle/>
          <a:p>
            <a:pPr marL="0" indent="0">
              <a:buNone/>
            </a:pPr>
            <a:r>
              <a:rPr lang="en-US" sz="1600" dirty="0">
                <a:solidFill>
                  <a:schemeClr val="bg1"/>
                </a:solidFill>
              </a:rPr>
              <a:t>Label each planet above / below 1.76 R</a:t>
            </a:r>
            <a:r>
              <a:rPr lang="en-US" sz="1600" dirty="0">
                <a:solidFill>
                  <a:schemeClr val="bg1"/>
                </a:solidFill>
                <a:latin typeface="Cambria" pitchFamily="34" charset="0"/>
                <a:ea typeface="Cambria" pitchFamily="34" charset="-122"/>
                <a:cs typeface="Cambria" pitchFamily="34" charset="-120"/>
              </a:rPr>
              <a:t>⊕</a:t>
            </a:r>
            <a:endParaRPr lang="en-US" sz="1600" dirty="0"/>
          </a:p>
        </p:txBody>
      </p:sp>
      <p:sp>
        <p:nvSpPr>
          <p:cNvPr id="16" name="step_272"/>
          <p:cNvSpPr/>
          <p:nvPr/>
        </p:nvSpPr>
        <p:spPr>
          <a:xfrm>
            <a:off x="548640" y="2926080"/>
            <a:ext cx="420624" cy="420624"/>
          </a:xfrm>
          <a:prstGeom prst="ellipse">
            <a:avLst/>
          </a:prstGeom>
          <a:solidFill>
            <a:schemeClr val="accent4">
              <a:alpha val="85000"/>
            </a:schemeClr>
          </a:solidFill>
          <a:ln w="9525">
            <a:solidFill>
              <a:schemeClr val="accent4"/>
            </a:solidFill>
            <a:prstDash val="solid"/>
          </a:ln>
        </p:spPr>
        <p:txBody>
          <a:bodyPr/>
          <a:lstStyle/>
          <a:p>
            <a:endParaRPr lang="mk-MK"/>
          </a:p>
        </p:txBody>
      </p:sp>
      <p:sp>
        <p:nvSpPr>
          <p:cNvPr id="17" name="text_273"/>
          <p:cNvSpPr txBox="1"/>
          <p:nvPr/>
        </p:nvSpPr>
        <p:spPr>
          <a:xfrm>
            <a:off x="548640" y="292608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8" name="text_274"/>
          <p:cNvSpPr txBox="1"/>
          <p:nvPr/>
        </p:nvSpPr>
        <p:spPr>
          <a:xfrm>
            <a:off x="1188720" y="2889504"/>
            <a:ext cx="3566160" cy="548640"/>
          </a:xfrm>
          <a:prstGeom prst="rect">
            <a:avLst/>
          </a:prstGeom>
          <a:noFill/>
          <a:ln/>
        </p:spPr>
        <p:txBody>
          <a:bodyPr wrap="square" lIns="0" tIns="0" rIns="0" bIns="0" rtlCol="0" anchor="ctr"/>
          <a:lstStyle/>
          <a:p>
            <a:pPr marL="0" indent="0">
              <a:buNone/>
            </a:pPr>
            <a:r>
              <a:rPr lang="en-US" sz="1600" dirty="0">
                <a:solidFill>
                  <a:schemeClr val="bg1"/>
                </a:solidFill>
              </a:rPr>
              <a:t>Use 8 orbital &amp; stellar features — no radius</a:t>
            </a:r>
            <a:endParaRPr lang="en-US" sz="1600" dirty="0"/>
          </a:p>
        </p:txBody>
      </p:sp>
      <p:sp>
        <p:nvSpPr>
          <p:cNvPr id="19" name="step_275"/>
          <p:cNvSpPr/>
          <p:nvPr/>
        </p:nvSpPr>
        <p:spPr>
          <a:xfrm>
            <a:off x="548640" y="3886200"/>
            <a:ext cx="420624" cy="420624"/>
          </a:xfrm>
          <a:prstGeom prst="ellipse">
            <a:avLst/>
          </a:prstGeom>
          <a:solidFill>
            <a:schemeClr val="accent4">
              <a:alpha val="85000"/>
            </a:schemeClr>
          </a:solidFill>
          <a:ln w="9525">
            <a:solidFill>
              <a:schemeClr val="accent4"/>
            </a:solidFill>
            <a:prstDash val="solid"/>
          </a:ln>
        </p:spPr>
        <p:txBody>
          <a:bodyPr/>
          <a:lstStyle/>
          <a:p>
            <a:endParaRPr lang="mk-MK"/>
          </a:p>
        </p:txBody>
      </p:sp>
      <p:sp>
        <p:nvSpPr>
          <p:cNvPr id="20" name="text_276"/>
          <p:cNvSpPr txBox="1"/>
          <p:nvPr/>
        </p:nvSpPr>
        <p:spPr>
          <a:xfrm>
            <a:off x="548640" y="388620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1" name="text_277"/>
          <p:cNvSpPr txBox="1"/>
          <p:nvPr/>
        </p:nvSpPr>
        <p:spPr>
          <a:xfrm>
            <a:off x="1188720" y="3849624"/>
            <a:ext cx="3566160" cy="548640"/>
          </a:xfrm>
          <a:prstGeom prst="rect">
            <a:avLst/>
          </a:prstGeom>
          <a:noFill/>
          <a:ln/>
        </p:spPr>
        <p:txBody>
          <a:bodyPr wrap="square" lIns="0" tIns="0" rIns="0" bIns="0" rtlCol="0" anchor="ctr"/>
          <a:lstStyle/>
          <a:p>
            <a:pPr marL="0" indent="0">
              <a:buNone/>
            </a:pPr>
            <a:r>
              <a:rPr lang="en-US" sz="1600" dirty="0">
                <a:solidFill>
                  <a:schemeClr val="bg1"/>
                </a:solidFill>
              </a:rPr>
              <a:t>Train on 1,716, test on 573</a:t>
            </a:r>
            <a:endParaRPr lang="en-US" sz="1600" dirty="0"/>
          </a:p>
        </p:txBody>
      </p:sp>
      <p:pic>
        <p:nvPicPr>
          <p:cNvPr id="22" name="img_278" descr="ROC curves for logistic regression and random forest"/>
          <p:cNvPicPr>
            <a:picLocks noChangeAspect="1"/>
          </p:cNvPicPr>
          <p:nvPr/>
        </p:nvPicPr>
        <p:blipFill>
          <a:blip r:embed="rId3"/>
          <a:stretch>
            <a:fillRect/>
          </a:stretch>
        </p:blipFill>
        <p:spPr>
          <a:xfrm>
            <a:off x="4846320" y="1926223"/>
            <a:ext cx="4389120" cy="3919953"/>
          </a:xfrm>
          <a:prstGeom prst="rect">
            <a:avLst/>
          </a:prstGeom>
        </p:spPr>
      </p:pic>
      <p:sp>
        <p:nvSpPr>
          <p:cNvPr id="23" name="text_279"/>
          <p:cNvSpPr txBox="1"/>
          <p:nvPr/>
        </p:nvSpPr>
        <p:spPr>
          <a:xfrm>
            <a:off x="9509760" y="2103120"/>
            <a:ext cx="2133295" cy="508000"/>
          </a:xfrm>
          <a:prstGeom prst="rect">
            <a:avLst/>
          </a:prstGeom>
          <a:noFill/>
          <a:ln/>
        </p:spPr>
        <p:txBody>
          <a:bodyPr wrap="square" lIns="0" tIns="0" rIns="0" bIns="0" rtlCol="0" anchor="b"/>
          <a:lstStyle/>
          <a:p>
            <a:pPr marL="0" indent="0">
              <a:buNone/>
            </a:pPr>
            <a:r>
              <a:rPr lang="en-US" sz="3200" b="1" dirty="0">
                <a:solidFill>
                  <a:schemeClr val="accent1"/>
                </a:solidFill>
                <a:latin typeface="Cambria" pitchFamily="34" charset="0"/>
                <a:ea typeface="Cambria" pitchFamily="34" charset="-122"/>
                <a:cs typeface="Cambria" pitchFamily="34" charset="-120"/>
              </a:rPr>
              <a:t>0.77–0.79</a:t>
            </a:r>
            <a:endParaRPr lang="en-US" sz="3200" dirty="0"/>
          </a:p>
        </p:txBody>
      </p:sp>
      <p:sp>
        <p:nvSpPr>
          <p:cNvPr id="24" name="text_280"/>
          <p:cNvSpPr txBox="1"/>
          <p:nvPr/>
        </p:nvSpPr>
        <p:spPr>
          <a:xfrm>
            <a:off x="9509760" y="2647696"/>
            <a:ext cx="2133295" cy="548640"/>
          </a:xfrm>
          <a:prstGeom prst="rect">
            <a:avLst/>
          </a:prstGeom>
          <a:noFill/>
          <a:ln/>
        </p:spPr>
        <p:txBody>
          <a:bodyPr wrap="square" lIns="0" tIns="0" rIns="0" bIns="0" rtlCol="0" anchor="t"/>
          <a:lstStyle/>
          <a:p>
            <a:pPr marL="0" indent="0">
              <a:buNone/>
            </a:pPr>
            <a:r>
              <a:rPr lang="en-US" sz="1300" dirty="0">
                <a:solidFill>
                  <a:schemeClr val="bg2"/>
                </a:solidFill>
              </a:rPr>
              <a:t>ROC-AUC on held-out planets</a:t>
            </a:r>
            <a:endParaRPr lang="en-US" sz="1300" dirty="0"/>
          </a:p>
        </p:txBody>
      </p:sp>
      <p:sp>
        <p:nvSpPr>
          <p:cNvPr id="25" name="text_281"/>
          <p:cNvSpPr txBox="1"/>
          <p:nvPr/>
        </p:nvSpPr>
        <p:spPr>
          <a:xfrm>
            <a:off x="9509760" y="3520440"/>
            <a:ext cx="2133295" cy="45720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Moderate — but real.</a:t>
            </a:r>
            <a:endParaRPr lang="en-US" sz="1800" dirty="0"/>
          </a:p>
        </p:txBody>
      </p:sp>
      <p:sp>
        <p:nvSpPr>
          <p:cNvPr id="26"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Q3 · WHAT DRIVES IT</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The period–insolation axis carries the signal</a:t>
            </a:r>
            <a:endParaRPr lang="en-US" sz="3400" dirty="0"/>
          </a:p>
        </p:txBody>
      </p:sp>
      <p:sp>
        <p:nvSpPr>
          <p:cNvPr id="4" name="orbit_282"/>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83"/>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84"/>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85"/>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286"/>
          <p:cNvSpPr/>
          <p:nvPr/>
        </p:nvSpPr>
        <p:spPr>
          <a:xfrm>
            <a:off x="10376611"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9" name="orbit_dot_287"/>
          <p:cNvSpPr/>
          <p:nvPr/>
        </p:nvSpPr>
        <p:spPr>
          <a:xfrm>
            <a:off x="10722559"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10" name="orbit_dot_288"/>
          <p:cNvSpPr/>
          <p:nvPr/>
        </p:nvSpPr>
        <p:spPr>
          <a:xfrm>
            <a:off x="11150803"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1" name="orbit_dot_289"/>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290"/>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Q3 · PREDICTORS</a:t>
            </a:r>
            <a:endParaRPr lang="en-US" sz="900" dirty="0"/>
          </a:p>
        </p:txBody>
      </p:sp>
      <p:pic>
        <p:nvPicPr>
          <p:cNvPr id="13" name="img_291" descr="Impurity and permutation importance for eight predictors"/>
          <p:cNvPicPr>
            <a:picLocks noChangeAspect="1"/>
          </p:cNvPicPr>
          <p:nvPr/>
        </p:nvPicPr>
        <p:blipFill>
          <a:blip r:embed="rId3"/>
          <a:stretch>
            <a:fillRect/>
          </a:stretch>
        </p:blipFill>
        <p:spPr>
          <a:xfrm>
            <a:off x="548640" y="2179961"/>
            <a:ext cx="7223760" cy="3412479"/>
          </a:xfrm>
          <a:prstGeom prst="rect">
            <a:avLst/>
          </a:prstGeom>
        </p:spPr>
      </p:pic>
      <p:sp>
        <p:nvSpPr>
          <p:cNvPr id="14" name="text_292"/>
          <p:cNvSpPr txBox="1"/>
          <p:nvPr/>
        </p:nvSpPr>
        <p:spPr>
          <a:xfrm>
            <a:off x="8183880" y="1920240"/>
            <a:ext cx="3459175" cy="571500"/>
          </a:xfrm>
          <a:prstGeom prst="rect">
            <a:avLst/>
          </a:prstGeom>
          <a:noFill/>
          <a:ln/>
        </p:spPr>
        <p:txBody>
          <a:bodyPr wrap="square" lIns="0" tIns="0" rIns="0" bIns="0" rtlCol="0" anchor="b"/>
          <a:lstStyle/>
          <a:p>
            <a:pPr marL="0" indent="0">
              <a:buNone/>
            </a:pPr>
            <a:r>
              <a:rPr lang="en-US" sz="3600" b="1" dirty="0">
                <a:solidFill>
                  <a:schemeClr val="accent3"/>
                </a:solidFill>
                <a:latin typeface="Cambria" pitchFamily="34" charset="0"/>
                <a:ea typeface="Cambria" pitchFamily="34" charset="-122"/>
                <a:cs typeface="Cambria" pitchFamily="34" charset="-120"/>
              </a:rPr>
              <a:t>r = −0.74</a:t>
            </a:r>
            <a:endParaRPr lang="en-US" sz="3600" dirty="0"/>
          </a:p>
        </p:txBody>
      </p:sp>
      <p:sp>
        <p:nvSpPr>
          <p:cNvPr id="15" name="text_293"/>
          <p:cNvSpPr txBox="1"/>
          <p:nvPr/>
        </p:nvSpPr>
        <p:spPr>
          <a:xfrm>
            <a:off x="8183880" y="2528316"/>
            <a:ext cx="3459175" cy="320040"/>
          </a:xfrm>
          <a:prstGeom prst="rect">
            <a:avLst/>
          </a:prstGeom>
          <a:noFill/>
          <a:ln/>
        </p:spPr>
        <p:txBody>
          <a:bodyPr wrap="square" lIns="0" tIns="0" rIns="0" bIns="0" rtlCol="0" anchor="t"/>
          <a:lstStyle/>
          <a:p>
            <a:pPr marL="0" indent="0">
              <a:buNone/>
            </a:pPr>
            <a:r>
              <a:rPr lang="en-US" sz="1300" dirty="0">
                <a:solidFill>
                  <a:schemeClr val="bg2"/>
                </a:solidFill>
              </a:rPr>
              <a:t>period vs insolation · VIF &gt; 20</a:t>
            </a:r>
            <a:endParaRPr lang="en-US" sz="1300" dirty="0"/>
          </a:p>
        </p:txBody>
      </p:sp>
      <p:sp>
        <p:nvSpPr>
          <p:cNvPr id="16" name="card_294"/>
          <p:cNvSpPr/>
          <p:nvPr/>
        </p:nvSpPr>
        <p:spPr>
          <a:xfrm>
            <a:off x="8183880" y="3611880"/>
            <a:ext cx="3459175" cy="1645920"/>
          </a:xfrm>
          <a:prstGeom prst="roundRect">
            <a:avLst>
              <a:gd name="adj" fmla="val 6667"/>
            </a:avLst>
          </a:prstGeom>
          <a:solidFill>
            <a:schemeClr val="accent3">
              <a:alpha val="10000"/>
            </a:schemeClr>
          </a:solidFill>
          <a:ln w="9525">
            <a:solidFill>
              <a:schemeClr val="accent3"/>
            </a:solidFill>
            <a:prstDash val="solid"/>
          </a:ln>
        </p:spPr>
        <p:txBody>
          <a:bodyPr/>
          <a:lstStyle/>
          <a:p>
            <a:endParaRPr lang="mk-MK"/>
          </a:p>
        </p:txBody>
      </p:sp>
      <p:sp>
        <p:nvSpPr>
          <p:cNvPr id="17" name="text_295"/>
          <p:cNvSpPr txBox="1"/>
          <p:nvPr/>
        </p:nvSpPr>
        <p:spPr>
          <a:xfrm>
            <a:off x="8458200" y="3794760"/>
            <a:ext cx="2910535" cy="1280160"/>
          </a:xfrm>
          <a:prstGeom prst="rect">
            <a:avLst/>
          </a:prstGeom>
          <a:noFill/>
          <a:ln/>
        </p:spPr>
        <p:txBody>
          <a:bodyPr wrap="square" lIns="0" tIns="0" rIns="0" bIns="0" rtlCol="0" anchor="t"/>
          <a:lstStyle/>
          <a:p>
            <a:pPr marL="0" indent="0">
              <a:buNone/>
            </a:pPr>
            <a:r>
              <a:rPr lang="en-US" sz="1700" b="1" dirty="0">
                <a:solidFill>
                  <a:schemeClr val="bg1"/>
                </a:solidFill>
              </a:rPr>
              <a:t>Rank them jointly — swap the measure and the top two swap places.</a:t>
            </a:r>
            <a:endParaRPr lang="en-US" sz="17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Q4 · CLASSICAL TESTS</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Long-period planets are larger</a:t>
            </a:r>
            <a:endParaRPr lang="en-US" sz="3400" dirty="0"/>
          </a:p>
        </p:txBody>
      </p:sp>
      <p:sp>
        <p:nvSpPr>
          <p:cNvPr id="4" name="orbit_296"/>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297"/>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298"/>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299"/>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300"/>
          <p:cNvSpPr/>
          <p:nvPr/>
        </p:nvSpPr>
        <p:spPr>
          <a:xfrm>
            <a:off x="10376611"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9" name="orbit_dot_301"/>
          <p:cNvSpPr/>
          <p:nvPr/>
        </p:nvSpPr>
        <p:spPr>
          <a:xfrm>
            <a:off x="10763707"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10" name="orbit_dot_302"/>
          <p:cNvSpPr/>
          <p:nvPr/>
        </p:nvSpPr>
        <p:spPr>
          <a:xfrm>
            <a:off x="11109655"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11" name="orbit_dot_303"/>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304"/>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Q4 · PERIOD</a:t>
            </a:r>
            <a:endParaRPr lang="en-US" sz="900" dirty="0"/>
          </a:p>
        </p:txBody>
      </p:sp>
      <p:pic>
        <p:nvPicPr>
          <p:cNvPr id="13" name="img_305" descr="Cumulative radius distributions for short- and long-period planets"/>
          <p:cNvPicPr>
            <a:picLocks noChangeAspect="1"/>
          </p:cNvPicPr>
          <p:nvPr/>
        </p:nvPicPr>
        <p:blipFill>
          <a:blip r:embed="rId3"/>
          <a:stretch>
            <a:fillRect/>
          </a:stretch>
        </p:blipFill>
        <p:spPr>
          <a:xfrm>
            <a:off x="548640" y="1569412"/>
            <a:ext cx="6400800" cy="4633576"/>
          </a:xfrm>
          <a:prstGeom prst="rect">
            <a:avLst/>
          </a:prstGeom>
        </p:spPr>
      </p:pic>
      <p:sp>
        <p:nvSpPr>
          <p:cNvPr id="14" name="text_306"/>
          <p:cNvSpPr txBox="1"/>
          <p:nvPr/>
        </p:nvSpPr>
        <p:spPr>
          <a:xfrm>
            <a:off x="7498080" y="1828800"/>
            <a:ext cx="4144975" cy="635000"/>
          </a:xfrm>
          <a:prstGeom prst="rect">
            <a:avLst/>
          </a:prstGeom>
          <a:noFill/>
          <a:ln/>
        </p:spPr>
        <p:txBody>
          <a:bodyPr wrap="square" lIns="0" tIns="0" rIns="0" bIns="0" rtlCol="0" anchor="b"/>
          <a:lstStyle/>
          <a:p>
            <a:pPr marL="0" indent="0">
              <a:buNone/>
            </a:pPr>
            <a:r>
              <a:rPr lang="en-US" sz="4000" b="1" dirty="0">
                <a:solidFill>
                  <a:schemeClr val="bg1"/>
                </a:solidFill>
                <a:latin typeface="Cambria" pitchFamily="34" charset="0"/>
                <a:ea typeface="Cambria" pitchFamily="34" charset="-122"/>
                <a:cs typeface="Cambria" pitchFamily="34" charset="-120"/>
              </a:rPr>
              <a:t>1.67 → 2.34</a:t>
            </a:r>
            <a:endParaRPr lang="en-US" sz="4000" dirty="0"/>
          </a:p>
        </p:txBody>
      </p:sp>
      <p:sp>
        <p:nvSpPr>
          <p:cNvPr id="15" name="text_307"/>
          <p:cNvSpPr txBox="1"/>
          <p:nvPr/>
        </p:nvSpPr>
        <p:spPr>
          <a:xfrm>
            <a:off x="7498080" y="2500376"/>
            <a:ext cx="4144975" cy="320040"/>
          </a:xfrm>
          <a:prstGeom prst="rect">
            <a:avLst/>
          </a:prstGeom>
          <a:noFill/>
          <a:ln/>
        </p:spPr>
        <p:txBody>
          <a:bodyPr wrap="square" lIns="0" tIns="0" rIns="0" bIns="0" rtlCol="0" anchor="t"/>
          <a:lstStyle/>
          <a:p>
            <a:pPr marL="0" indent="0">
              <a:buNone/>
            </a:pPr>
            <a:r>
              <a:rPr lang="en-US" sz="1300" dirty="0">
                <a:solidFill>
                  <a:schemeClr val="bg2"/>
                </a:solidFill>
              </a:rPr>
              <a:t>median radius (R</a:t>
            </a:r>
            <a:r>
              <a:rPr lang="en-US" sz="1300" dirty="0">
                <a:solidFill>
                  <a:schemeClr val="bg2"/>
                </a:solidFill>
                <a:latin typeface="Cambria" pitchFamily="34" charset="0"/>
                <a:ea typeface="Cambria" pitchFamily="34" charset="-122"/>
                <a:cs typeface="Cambria" pitchFamily="34" charset="-120"/>
              </a:rPr>
              <a:t>⊕</a:t>
            </a:r>
            <a:r>
              <a:rPr lang="en-US" sz="1300" dirty="0">
                <a:solidFill>
                  <a:schemeClr val="bg2"/>
                </a:solidFill>
              </a:rPr>
              <a:t>), ≤ 10 d vs &gt; 10 d</a:t>
            </a:r>
            <a:endParaRPr lang="en-US" sz="1300" dirty="0"/>
          </a:p>
        </p:txBody>
      </p:sp>
      <p:sp>
        <p:nvSpPr>
          <p:cNvPr id="16" name="text_308"/>
          <p:cNvSpPr txBox="1"/>
          <p:nvPr/>
        </p:nvSpPr>
        <p:spPr>
          <a:xfrm>
            <a:off x="7498080" y="3429000"/>
            <a:ext cx="4144975" cy="457200"/>
          </a:xfrm>
          <a:prstGeom prst="rect">
            <a:avLst/>
          </a:prstGeom>
          <a:noFill/>
          <a:ln/>
        </p:spPr>
        <p:txBody>
          <a:bodyPr wrap="square" lIns="0" tIns="0" rIns="0" bIns="0" rtlCol="0" anchor="t"/>
          <a:lstStyle/>
          <a:p>
            <a:pPr marL="0" indent="0">
              <a:buNone/>
            </a:pPr>
            <a:r>
              <a:rPr lang="en-US" sz="2400" b="1" dirty="0">
                <a:solidFill>
                  <a:schemeClr val="accent3"/>
                </a:solidFill>
                <a:latin typeface="Cambria" pitchFamily="34" charset="0"/>
                <a:ea typeface="Cambria" pitchFamily="34" charset="-122"/>
                <a:cs typeface="Cambria" pitchFamily="34" charset="-120"/>
              </a:rPr>
              <a:t>KS  p = 7.8×10</a:t>
            </a:r>
            <a:r>
              <a:rPr lang="en-US" sz="2400" b="1" baseline="30000" dirty="0">
                <a:solidFill>
                  <a:schemeClr val="accent3"/>
                </a:solidFill>
                <a:latin typeface="Cambria" pitchFamily="34" charset="0"/>
                <a:ea typeface="Cambria" pitchFamily="34" charset="-122"/>
                <a:cs typeface="Cambria" pitchFamily="34" charset="-120"/>
              </a:rPr>
              <a:t>−66</a:t>
            </a:r>
            <a:endParaRPr lang="en-US" sz="2400" dirty="0"/>
          </a:p>
        </p:txBody>
      </p:sp>
      <p:sp>
        <p:nvSpPr>
          <p:cNvPr id="17" name="text_309"/>
          <p:cNvSpPr txBox="1"/>
          <p:nvPr/>
        </p:nvSpPr>
        <p:spPr>
          <a:xfrm>
            <a:off x="7498080" y="3931920"/>
            <a:ext cx="4144975" cy="365760"/>
          </a:xfrm>
          <a:prstGeom prst="rect">
            <a:avLst/>
          </a:prstGeom>
          <a:noFill/>
          <a:ln/>
        </p:spPr>
        <p:txBody>
          <a:bodyPr wrap="square" lIns="0" tIns="0" rIns="0" bIns="0" rtlCol="0" anchor="t"/>
          <a:lstStyle/>
          <a:p>
            <a:pPr marL="0" indent="0">
              <a:buNone/>
            </a:pPr>
            <a:r>
              <a:rPr lang="en-US" sz="1500" dirty="0">
                <a:solidFill>
                  <a:schemeClr val="bg2"/>
                </a:solidFill>
              </a:rPr>
              <a:t>Mann–Whitney and Kruskal–Wallis agree.</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Q4 · BAYESIAN ESTIMATION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The posteriors don’t even touch</a:t>
            </a:r>
            <a:endParaRPr lang="en-US" sz="3400" dirty="0"/>
          </a:p>
        </p:txBody>
      </p:sp>
      <p:sp>
        <p:nvSpPr>
          <p:cNvPr id="4" name="orbit_310"/>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311"/>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312"/>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313"/>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314"/>
          <p:cNvSpPr/>
          <p:nvPr/>
        </p:nvSpPr>
        <p:spPr>
          <a:xfrm>
            <a:off x="10376611"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9" name="orbit_dot_315"/>
          <p:cNvSpPr/>
          <p:nvPr/>
        </p:nvSpPr>
        <p:spPr>
          <a:xfrm>
            <a:off x="10763707"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10" name="orbit_dot_316"/>
          <p:cNvSpPr/>
          <p:nvPr/>
        </p:nvSpPr>
        <p:spPr>
          <a:xfrm>
            <a:off x="11109655"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11" name="orbit_dot_317"/>
          <p:cNvSpPr/>
          <p:nvPr/>
        </p:nvSpPr>
        <p:spPr>
          <a:xfrm>
            <a:off x="11537899" y="480060"/>
            <a:ext cx="100584" cy="100584"/>
          </a:xfrm>
          <a:prstGeom prst="ellipse">
            <a:avLst/>
          </a:prstGeom>
          <a:solidFill>
            <a:schemeClr val="tx1"/>
          </a:solidFill>
          <a:ln w="9525">
            <a:solidFill>
              <a:schemeClr val="bg2"/>
            </a:solidFill>
            <a:prstDash val="solid"/>
          </a:ln>
        </p:spPr>
        <p:txBody>
          <a:bodyPr/>
          <a:lstStyle/>
          <a:p>
            <a:endParaRPr lang="mk-MK"/>
          </a:p>
        </p:txBody>
      </p:sp>
      <p:sp>
        <p:nvSpPr>
          <p:cNvPr id="12" name="orbit_label_318"/>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Q4 · PERIOD</a:t>
            </a:r>
            <a:endParaRPr lang="en-US" sz="900" dirty="0"/>
          </a:p>
        </p:txBody>
      </p:sp>
      <p:pic>
        <p:nvPicPr>
          <p:cNvPr id="13" name="img_319" descr="Posterior distributions for the above-gap proportion in each period group"/>
          <p:cNvPicPr>
            <a:picLocks noChangeAspect="1"/>
          </p:cNvPicPr>
          <p:nvPr/>
        </p:nvPicPr>
        <p:blipFill>
          <a:blip r:embed="rId3"/>
          <a:stretch>
            <a:fillRect/>
          </a:stretch>
        </p:blipFill>
        <p:spPr>
          <a:xfrm>
            <a:off x="548640" y="1744583"/>
            <a:ext cx="6949440" cy="4283235"/>
          </a:xfrm>
          <a:prstGeom prst="rect">
            <a:avLst/>
          </a:prstGeom>
        </p:spPr>
      </p:pic>
      <p:sp>
        <p:nvSpPr>
          <p:cNvPr id="14" name="text_320"/>
          <p:cNvSpPr txBox="1"/>
          <p:nvPr/>
        </p:nvSpPr>
        <p:spPr>
          <a:xfrm>
            <a:off x="8046720" y="1828800"/>
            <a:ext cx="3596335"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STILL HOLDS WHEN WE CHANGE</a:t>
            </a:r>
            <a:endParaRPr lang="en-US" sz="1200" dirty="0"/>
          </a:p>
        </p:txBody>
      </p:sp>
      <p:sp>
        <p:nvSpPr>
          <p:cNvPr id="15" name="card_321"/>
          <p:cNvSpPr/>
          <p:nvPr/>
        </p:nvSpPr>
        <p:spPr>
          <a:xfrm>
            <a:off x="8046720" y="2286000"/>
            <a:ext cx="3596335" cy="822960"/>
          </a:xfrm>
          <a:prstGeom prst="roundRect">
            <a:avLst>
              <a:gd name="adj" fmla="val 13333"/>
            </a:avLst>
          </a:prstGeom>
          <a:solidFill>
            <a:schemeClr val="tx2">
              <a:alpha val="82000"/>
            </a:schemeClr>
          </a:solidFill>
          <a:ln w="9525">
            <a:solidFill>
              <a:schemeClr val="accent6"/>
            </a:solidFill>
            <a:prstDash val="solid"/>
          </a:ln>
        </p:spPr>
        <p:txBody>
          <a:bodyPr/>
          <a:lstStyle/>
          <a:p>
            <a:endParaRPr lang="mk-MK"/>
          </a:p>
        </p:txBody>
      </p:sp>
      <p:sp>
        <p:nvSpPr>
          <p:cNvPr id="16" name="text_322"/>
          <p:cNvSpPr txBox="1"/>
          <p:nvPr/>
        </p:nvSpPr>
        <p:spPr>
          <a:xfrm>
            <a:off x="8321040" y="2286000"/>
            <a:ext cx="1737360" cy="822960"/>
          </a:xfrm>
          <a:prstGeom prst="rect">
            <a:avLst/>
          </a:prstGeom>
          <a:noFill/>
          <a:ln/>
        </p:spPr>
        <p:txBody>
          <a:bodyPr wrap="square" lIns="0" tIns="0" rIns="0" bIns="0" rtlCol="0" anchor="ctr"/>
          <a:lstStyle/>
          <a:p>
            <a:pPr marL="0" indent="0">
              <a:buNone/>
            </a:pPr>
            <a:r>
              <a:rPr lang="en-US" sz="1600" dirty="0">
                <a:solidFill>
                  <a:schemeClr val="bg1"/>
                </a:solidFill>
              </a:rPr>
              <a:t>the prior</a:t>
            </a:r>
            <a:endParaRPr lang="en-US" sz="1600" dirty="0"/>
          </a:p>
        </p:txBody>
      </p:sp>
      <p:sp>
        <p:nvSpPr>
          <p:cNvPr id="17" name="text_323"/>
          <p:cNvSpPr txBox="1"/>
          <p:nvPr/>
        </p:nvSpPr>
        <p:spPr>
          <a:xfrm>
            <a:off x="9875520" y="2286000"/>
            <a:ext cx="1493215" cy="822960"/>
          </a:xfrm>
          <a:prstGeom prst="rect">
            <a:avLst/>
          </a:prstGeom>
          <a:noFill/>
          <a:ln/>
        </p:spPr>
        <p:txBody>
          <a:bodyPr wrap="square" lIns="0" tIns="0" rIns="0" bIns="0" rtlCol="0" anchor="ctr"/>
          <a:lstStyle/>
          <a:p>
            <a:pPr marL="0" indent="0" algn="r">
              <a:buNone/>
            </a:pPr>
            <a:r>
              <a:rPr lang="en-US" sz="1700" b="1" dirty="0">
                <a:solidFill>
                  <a:schemeClr val="accent1"/>
                </a:solidFill>
              </a:rPr>
              <a:t>0.335 → 0.324</a:t>
            </a:r>
            <a:endParaRPr lang="en-US" sz="1700" dirty="0"/>
          </a:p>
        </p:txBody>
      </p:sp>
      <p:sp>
        <p:nvSpPr>
          <p:cNvPr id="18" name="card_324"/>
          <p:cNvSpPr/>
          <p:nvPr/>
        </p:nvSpPr>
        <p:spPr>
          <a:xfrm>
            <a:off x="8046720" y="3337560"/>
            <a:ext cx="3596335" cy="822960"/>
          </a:xfrm>
          <a:prstGeom prst="roundRect">
            <a:avLst>
              <a:gd name="adj" fmla="val 13333"/>
            </a:avLst>
          </a:prstGeom>
          <a:solidFill>
            <a:schemeClr val="tx2">
              <a:alpha val="82000"/>
            </a:schemeClr>
          </a:solidFill>
          <a:ln w="9525">
            <a:solidFill>
              <a:schemeClr val="accent6"/>
            </a:solidFill>
            <a:prstDash val="solid"/>
          </a:ln>
        </p:spPr>
        <p:txBody>
          <a:bodyPr/>
          <a:lstStyle/>
          <a:p>
            <a:endParaRPr lang="mk-MK"/>
          </a:p>
        </p:txBody>
      </p:sp>
      <p:sp>
        <p:nvSpPr>
          <p:cNvPr id="19" name="text_325"/>
          <p:cNvSpPr txBox="1"/>
          <p:nvPr/>
        </p:nvSpPr>
        <p:spPr>
          <a:xfrm>
            <a:off x="8321040" y="3337560"/>
            <a:ext cx="1737360" cy="822960"/>
          </a:xfrm>
          <a:prstGeom prst="rect">
            <a:avLst/>
          </a:prstGeom>
          <a:noFill/>
          <a:ln/>
        </p:spPr>
        <p:txBody>
          <a:bodyPr wrap="square" lIns="0" tIns="0" rIns="0" bIns="0" rtlCol="0" anchor="ctr"/>
          <a:lstStyle/>
          <a:p>
            <a:pPr marL="0" indent="0">
              <a:buNone/>
            </a:pPr>
            <a:r>
              <a:rPr lang="en-US" sz="1600" dirty="0">
                <a:solidFill>
                  <a:schemeClr val="bg1"/>
                </a:solidFill>
              </a:rPr>
              <a:t>the period cut</a:t>
            </a:r>
            <a:endParaRPr lang="en-US" sz="1600" dirty="0"/>
          </a:p>
        </p:txBody>
      </p:sp>
      <p:sp>
        <p:nvSpPr>
          <p:cNvPr id="20" name="text_326"/>
          <p:cNvSpPr txBox="1"/>
          <p:nvPr/>
        </p:nvSpPr>
        <p:spPr>
          <a:xfrm>
            <a:off x="9875520" y="3337560"/>
            <a:ext cx="1493215" cy="822960"/>
          </a:xfrm>
          <a:prstGeom prst="rect">
            <a:avLst/>
          </a:prstGeom>
          <a:noFill/>
          <a:ln/>
        </p:spPr>
        <p:txBody>
          <a:bodyPr wrap="square" lIns="0" tIns="0" rIns="0" bIns="0" rtlCol="0" anchor="ctr"/>
          <a:lstStyle/>
          <a:p>
            <a:pPr marL="0" indent="0" algn="r">
              <a:buNone/>
            </a:pPr>
            <a:r>
              <a:rPr lang="en-US" sz="1700" b="1" dirty="0">
                <a:solidFill>
                  <a:schemeClr val="accent1"/>
                </a:solidFill>
              </a:rPr>
              <a:t>0.276 – 0.414</a:t>
            </a:r>
            <a:endParaRPr lang="en-US" sz="1700" dirty="0"/>
          </a:p>
        </p:txBody>
      </p:sp>
      <p:sp>
        <p:nvSpPr>
          <p:cNvPr id="21" name="card_327"/>
          <p:cNvSpPr/>
          <p:nvPr/>
        </p:nvSpPr>
        <p:spPr>
          <a:xfrm>
            <a:off x="8046720" y="4389120"/>
            <a:ext cx="3596335" cy="822960"/>
          </a:xfrm>
          <a:prstGeom prst="roundRect">
            <a:avLst>
              <a:gd name="adj" fmla="val 13333"/>
            </a:avLst>
          </a:prstGeom>
          <a:solidFill>
            <a:schemeClr val="tx2">
              <a:alpha val="82000"/>
            </a:schemeClr>
          </a:solidFill>
          <a:ln w="9525">
            <a:solidFill>
              <a:schemeClr val="accent6"/>
            </a:solidFill>
            <a:prstDash val="solid"/>
          </a:ln>
        </p:spPr>
        <p:txBody>
          <a:bodyPr/>
          <a:lstStyle/>
          <a:p>
            <a:endParaRPr lang="mk-MK"/>
          </a:p>
        </p:txBody>
      </p:sp>
      <p:sp>
        <p:nvSpPr>
          <p:cNvPr id="22" name="text_328"/>
          <p:cNvSpPr txBox="1"/>
          <p:nvPr/>
        </p:nvSpPr>
        <p:spPr>
          <a:xfrm>
            <a:off x="8321040" y="4389120"/>
            <a:ext cx="1737360" cy="822960"/>
          </a:xfrm>
          <a:prstGeom prst="rect">
            <a:avLst/>
          </a:prstGeom>
          <a:noFill/>
          <a:ln/>
        </p:spPr>
        <p:txBody>
          <a:bodyPr wrap="square" lIns="0" tIns="0" rIns="0" bIns="0" rtlCol="0" anchor="ctr"/>
          <a:lstStyle/>
          <a:p>
            <a:pPr marL="0" indent="0">
              <a:buNone/>
            </a:pPr>
            <a:r>
              <a:rPr lang="en-US" sz="1600" dirty="0">
                <a:solidFill>
                  <a:schemeClr val="bg1"/>
                </a:solidFill>
              </a:rPr>
              <a:t>host clustering</a:t>
            </a:r>
            <a:endParaRPr lang="en-US" sz="1600" dirty="0"/>
          </a:p>
        </p:txBody>
      </p:sp>
      <p:sp>
        <p:nvSpPr>
          <p:cNvPr id="23" name="text_329"/>
          <p:cNvSpPr txBox="1"/>
          <p:nvPr/>
        </p:nvSpPr>
        <p:spPr>
          <a:xfrm>
            <a:off x="9875520" y="4389120"/>
            <a:ext cx="1493215" cy="822960"/>
          </a:xfrm>
          <a:prstGeom prst="rect">
            <a:avLst/>
          </a:prstGeom>
          <a:noFill/>
          <a:ln/>
        </p:spPr>
        <p:txBody>
          <a:bodyPr wrap="square" lIns="0" tIns="0" rIns="0" bIns="0" rtlCol="0" anchor="ctr"/>
          <a:lstStyle/>
          <a:p>
            <a:pPr marL="0" indent="0" algn="r">
              <a:buNone/>
            </a:pPr>
            <a:r>
              <a:rPr lang="en-US" sz="1700" b="1" dirty="0">
                <a:solidFill>
                  <a:schemeClr val="accent1"/>
                </a:solidFill>
              </a:rPr>
              <a:t>CI × 1.02</a:t>
            </a:r>
            <a:endParaRPr lang="en-US" sz="17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THE PRINCIPAL LIMITATION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Detection bias predicts the same signature</a:t>
            </a:r>
            <a:endParaRPr lang="en-US" sz="3400" dirty="0"/>
          </a:p>
        </p:txBody>
      </p:sp>
      <p:sp>
        <p:nvSpPr>
          <p:cNvPr id="4" name="orbit_330"/>
          <p:cNvSpPr/>
          <p:nvPr/>
        </p:nvSpPr>
        <p:spPr>
          <a:xfrm>
            <a:off x="9265615" y="530352"/>
            <a:ext cx="2322576" cy="0"/>
          </a:xfrm>
          <a:prstGeom prst="line">
            <a:avLst/>
          </a:prstGeom>
          <a:noFill/>
          <a:ln w="12700">
            <a:solidFill>
              <a:schemeClr val="accent6"/>
            </a:solidFill>
            <a:prstDash val="solid"/>
          </a:ln>
        </p:spPr>
        <p:txBody>
          <a:bodyPr/>
          <a:lstStyle/>
          <a:p>
            <a:endParaRPr lang="mk-MK"/>
          </a:p>
        </p:txBody>
      </p:sp>
      <p:sp>
        <p:nvSpPr>
          <p:cNvPr id="5" name="orbit_dot_331"/>
          <p:cNvSpPr/>
          <p:nvPr/>
        </p:nvSpPr>
        <p:spPr>
          <a:xfrm>
            <a:off x="921532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6" name="orbit_dot_332"/>
          <p:cNvSpPr/>
          <p:nvPr/>
        </p:nvSpPr>
        <p:spPr>
          <a:xfrm>
            <a:off x="9602419"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7" name="orbit_dot_333"/>
          <p:cNvSpPr/>
          <p:nvPr/>
        </p:nvSpPr>
        <p:spPr>
          <a:xfrm>
            <a:off x="9989515"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8" name="orbit_dot_334"/>
          <p:cNvSpPr/>
          <p:nvPr/>
        </p:nvSpPr>
        <p:spPr>
          <a:xfrm>
            <a:off x="10376611"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9" name="orbit_dot_335"/>
          <p:cNvSpPr/>
          <p:nvPr/>
        </p:nvSpPr>
        <p:spPr>
          <a:xfrm>
            <a:off x="10763707"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10" name="orbit_dot_336"/>
          <p:cNvSpPr/>
          <p:nvPr/>
        </p:nvSpPr>
        <p:spPr>
          <a:xfrm>
            <a:off x="11150803" y="480060"/>
            <a:ext cx="100584" cy="100584"/>
          </a:xfrm>
          <a:prstGeom prst="ellipse">
            <a:avLst/>
          </a:prstGeom>
          <a:solidFill>
            <a:schemeClr val="accent5"/>
          </a:solidFill>
          <a:ln w="9525">
            <a:solidFill>
              <a:schemeClr val="accent5"/>
            </a:solidFill>
            <a:prstDash val="solid"/>
          </a:ln>
        </p:spPr>
        <p:txBody>
          <a:bodyPr/>
          <a:lstStyle/>
          <a:p>
            <a:endParaRPr lang="mk-MK"/>
          </a:p>
        </p:txBody>
      </p:sp>
      <p:sp>
        <p:nvSpPr>
          <p:cNvPr id="11" name="orbit_dot_337"/>
          <p:cNvSpPr/>
          <p:nvPr/>
        </p:nvSpPr>
        <p:spPr>
          <a:xfrm>
            <a:off x="11496751" y="438912"/>
            <a:ext cx="182880" cy="182880"/>
          </a:xfrm>
          <a:prstGeom prst="ellipse">
            <a:avLst/>
          </a:prstGeom>
          <a:solidFill>
            <a:schemeClr val="accent3"/>
          </a:solidFill>
          <a:ln w="9525">
            <a:solidFill>
              <a:schemeClr val="accent3"/>
            </a:solidFill>
            <a:prstDash val="solid"/>
          </a:ln>
        </p:spPr>
        <p:txBody>
          <a:bodyPr/>
          <a:lstStyle/>
          <a:p>
            <a:endParaRPr lang="mk-MK"/>
          </a:p>
        </p:txBody>
      </p:sp>
      <p:sp>
        <p:nvSpPr>
          <p:cNvPr id="12" name="orbit_label_338"/>
          <p:cNvSpPr txBox="1"/>
          <p:nvPr/>
        </p:nvSpPr>
        <p:spPr>
          <a:xfrm>
            <a:off x="9082735" y="658368"/>
            <a:ext cx="2560320" cy="219456"/>
          </a:xfrm>
          <a:prstGeom prst="rect">
            <a:avLst/>
          </a:prstGeom>
          <a:noFill/>
          <a:ln/>
        </p:spPr>
        <p:txBody>
          <a:bodyPr wrap="square" lIns="0" tIns="0" rIns="0" bIns="0" rtlCol="0" anchor="ctr"/>
          <a:lstStyle/>
          <a:p>
            <a:pPr marL="0" indent="0" algn="r">
              <a:buNone/>
            </a:pPr>
            <a:r>
              <a:rPr lang="en-US" sz="900" kern="0" spc="200" dirty="0">
                <a:solidFill>
                  <a:schemeClr val="bg2"/>
                </a:solidFill>
              </a:rPr>
              <a:t>LIMITS</a:t>
            </a:r>
            <a:endParaRPr lang="en-US" sz="900" dirty="0"/>
          </a:p>
        </p:txBody>
      </p:sp>
      <p:pic>
        <p:nvPicPr>
          <p:cNvPr id="13" name="img_339" descr="Detection floor rising with orbital period, and share of small planets by period bin"/>
          <p:cNvPicPr>
            <a:picLocks noChangeAspect="1"/>
          </p:cNvPicPr>
          <p:nvPr/>
        </p:nvPicPr>
        <p:blipFill>
          <a:blip r:embed="rId3"/>
          <a:stretch>
            <a:fillRect/>
          </a:stretch>
        </p:blipFill>
        <p:spPr>
          <a:xfrm>
            <a:off x="548640" y="1931728"/>
            <a:ext cx="8229600" cy="3908944"/>
          </a:xfrm>
          <a:prstGeom prst="rect">
            <a:avLst/>
          </a:prstGeom>
        </p:spPr>
      </p:pic>
      <p:sp>
        <p:nvSpPr>
          <p:cNvPr id="14" name="text_340"/>
          <p:cNvSpPr txBox="1"/>
          <p:nvPr/>
        </p:nvSpPr>
        <p:spPr>
          <a:xfrm>
            <a:off x="9144000" y="2011680"/>
            <a:ext cx="2499055" cy="508000"/>
          </a:xfrm>
          <a:prstGeom prst="rect">
            <a:avLst/>
          </a:prstGeom>
          <a:noFill/>
          <a:ln/>
        </p:spPr>
        <p:txBody>
          <a:bodyPr wrap="square" lIns="0" tIns="0" rIns="0" bIns="0" rtlCol="0" anchor="b"/>
          <a:lstStyle/>
          <a:p>
            <a:pPr marL="0" indent="0">
              <a:buNone/>
            </a:pPr>
            <a:r>
              <a:rPr lang="en-US" sz="3200" b="1" dirty="0">
                <a:solidFill>
                  <a:schemeClr val="accent2"/>
                </a:solidFill>
                <a:latin typeface="Cambria" pitchFamily="34" charset="0"/>
                <a:ea typeface="Cambria" pitchFamily="34" charset="-122"/>
                <a:cs typeface="Cambria" pitchFamily="34" charset="-120"/>
              </a:rPr>
              <a:t>55% → 6%</a:t>
            </a:r>
            <a:endParaRPr lang="en-US" sz="3200" dirty="0"/>
          </a:p>
        </p:txBody>
      </p:sp>
      <p:sp>
        <p:nvSpPr>
          <p:cNvPr id="15" name="text_341"/>
          <p:cNvSpPr txBox="1"/>
          <p:nvPr/>
        </p:nvSpPr>
        <p:spPr>
          <a:xfrm>
            <a:off x="9144000" y="2556256"/>
            <a:ext cx="2499055" cy="548640"/>
          </a:xfrm>
          <a:prstGeom prst="rect">
            <a:avLst/>
          </a:prstGeom>
          <a:noFill/>
          <a:ln/>
        </p:spPr>
        <p:txBody>
          <a:bodyPr wrap="square" lIns="0" tIns="0" rIns="0" bIns="0" rtlCol="0" anchor="t"/>
          <a:lstStyle/>
          <a:p>
            <a:pPr marL="0" indent="0">
              <a:buNone/>
            </a:pPr>
            <a:r>
              <a:rPr lang="en-US" sz="1300" dirty="0">
                <a:solidFill>
                  <a:schemeClr val="bg2"/>
                </a:solidFill>
              </a:rPr>
              <a:t>planets &lt; 1.5 R</a:t>
            </a:r>
            <a:r>
              <a:rPr lang="en-US" sz="1300" dirty="0">
                <a:solidFill>
                  <a:schemeClr val="bg2"/>
                </a:solidFill>
                <a:latin typeface="Cambria" pitchFamily="34" charset="0"/>
                <a:ea typeface="Cambria" pitchFamily="34" charset="-122"/>
                <a:cs typeface="Cambria" pitchFamily="34" charset="-120"/>
              </a:rPr>
              <a:t>⊕</a:t>
            </a:r>
            <a:r>
              <a:rPr lang="en-US" sz="1300" dirty="0">
                <a:solidFill>
                  <a:schemeClr val="bg2"/>
                </a:solidFill>
              </a:rPr>
              <a:t>, short to long period</a:t>
            </a:r>
            <a:endParaRPr lang="en-US" sz="1300" dirty="0"/>
          </a:p>
        </p:txBody>
      </p:sp>
      <p:sp>
        <p:nvSpPr>
          <p:cNvPr id="16" name="text_342"/>
          <p:cNvSpPr txBox="1"/>
          <p:nvPr/>
        </p:nvSpPr>
        <p:spPr>
          <a:xfrm>
            <a:off x="9144000" y="3657600"/>
            <a:ext cx="2499055" cy="1097280"/>
          </a:xfrm>
          <a:prstGeom prst="rect">
            <a:avLst/>
          </a:prstGeom>
          <a:noFill/>
          <a:ln/>
        </p:spPr>
        <p:txBody>
          <a:bodyPr wrap="square" lIns="0" tIns="0" rIns="0" bIns="0" rtlCol="0" anchor="t"/>
          <a:lstStyle/>
          <a:p>
            <a:pPr marL="0" indent="0">
              <a:buNone/>
            </a:pPr>
            <a:r>
              <a:rPr lang="en-US" sz="1900" b="1" dirty="0">
                <a:solidFill>
                  <a:schemeClr val="accent3"/>
                </a:solidFill>
                <a:latin typeface="Cambria" pitchFamily="34" charset="0"/>
                <a:ea typeface="Cambria" pitchFamily="34" charset="-122"/>
                <a:cs typeface="Cambria" pitchFamily="34" charset="-120"/>
              </a:rPr>
              <a:t>Consistent with mass loss — not proof of it.</a:t>
            </a:r>
            <a:endParaRPr lang="en-US" sz="19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5943600" cy="292608"/>
          </a:xfrm>
          <a:prstGeom prst="rect">
            <a:avLst/>
          </a:prstGeom>
          <a:noFill/>
          <a:ln/>
        </p:spPr>
        <p:txBody>
          <a:bodyPr wrap="square" lIns="0" tIns="0" rIns="0" bIns="0" rtlCol="0" anchor="ctr"/>
          <a:lstStyle/>
          <a:p>
            <a:pPr marL="0" indent="0">
              <a:buNone/>
            </a:pPr>
            <a:r>
              <a:rPr lang="en-US" sz="1200" b="1" kern="0" spc="400" dirty="0">
                <a:solidFill>
                  <a:schemeClr val="accent3"/>
                </a:solidFill>
              </a:rPr>
              <a:t>CONCLUSION</a:t>
            </a:r>
            <a:endParaRPr lang="en-US" sz="1200" dirty="0"/>
          </a:p>
        </p:txBody>
      </p:sp>
      <p:sp>
        <p:nvSpPr>
          <p:cNvPr id="3" name="Text 0"/>
          <p:cNvSpPr>
            <a:spLocks noGrp="1"/>
          </p:cNvSpPr>
          <p:nvPr>
            <p:ph type="title" idx="101" hasCustomPrompt="1"/>
          </p:nvPr>
        </p:nvSpPr>
        <p:spPr>
          <a:xfrm>
            <a:off x="548640" y="713232"/>
            <a:ext cx="11094415" cy="713232"/>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What the data supports</a:t>
            </a:r>
            <a:endParaRPr lang="en-US" sz="3400" dirty="0"/>
          </a:p>
        </p:txBody>
      </p:sp>
      <p:sp>
        <p:nvSpPr>
          <p:cNvPr id="4" name="card_343"/>
          <p:cNvSpPr/>
          <p:nvPr/>
        </p:nvSpPr>
        <p:spPr>
          <a:xfrm>
            <a:off x="3520440" y="1737360"/>
            <a:ext cx="3901288" cy="1645920"/>
          </a:xfrm>
          <a:prstGeom prst="roundRect">
            <a:avLst>
              <a:gd name="adj" fmla="val 6667"/>
            </a:avLst>
          </a:prstGeom>
          <a:solidFill>
            <a:schemeClr val="tx2">
              <a:alpha val="75000"/>
            </a:schemeClr>
          </a:solidFill>
          <a:ln w="9525">
            <a:solidFill>
              <a:schemeClr val="accent6"/>
            </a:solidFill>
            <a:prstDash val="solid"/>
          </a:ln>
        </p:spPr>
        <p:txBody>
          <a:bodyPr/>
          <a:lstStyle/>
          <a:p>
            <a:endParaRPr lang="mk-MK"/>
          </a:p>
        </p:txBody>
      </p:sp>
      <p:sp>
        <p:nvSpPr>
          <p:cNvPr id="5" name="mark_344"/>
          <p:cNvSpPr/>
          <p:nvPr/>
        </p:nvSpPr>
        <p:spPr>
          <a:xfrm>
            <a:off x="3794760" y="2057400"/>
            <a:ext cx="475488" cy="475488"/>
          </a:xfrm>
          <a:prstGeom prst="ellipse">
            <a:avLst/>
          </a:prstGeom>
          <a:solidFill>
            <a:schemeClr val="accent1">
              <a:alpha val="20000"/>
            </a:schemeClr>
          </a:solidFill>
          <a:ln w="12700">
            <a:solidFill>
              <a:schemeClr val="accent1"/>
            </a:solidFill>
            <a:prstDash val="solid"/>
          </a:ln>
        </p:spPr>
        <p:txBody>
          <a:bodyPr/>
          <a:lstStyle/>
          <a:p>
            <a:endParaRPr lang="mk-MK"/>
          </a:p>
        </p:txBody>
      </p:sp>
      <p:sp>
        <p:nvSpPr>
          <p:cNvPr id="6" name="text_345"/>
          <p:cNvSpPr txBox="1"/>
          <p:nvPr/>
        </p:nvSpPr>
        <p:spPr>
          <a:xfrm>
            <a:off x="3794760" y="2057400"/>
            <a:ext cx="475488" cy="475488"/>
          </a:xfrm>
          <a:prstGeom prst="rect">
            <a:avLst/>
          </a:prstGeom>
          <a:noFill/>
          <a:ln/>
        </p:spPr>
        <p:txBody>
          <a:bodyPr wrap="square" lIns="0" tIns="0" rIns="0" bIns="0" rtlCol="0" anchor="ctr"/>
          <a:lstStyle/>
          <a:p>
            <a:pPr marL="0" indent="0" algn="ctr">
              <a:buNone/>
            </a:pPr>
            <a:r>
              <a:rPr lang="en-US" sz="1800" b="1" dirty="0">
                <a:solidFill>
                  <a:schemeClr val="accent1"/>
                </a:solidFill>
                <a:latin typeface="Segoe UI Symbol" pitchFamily="34" charset="0"/>
                <a:ea typeface="Segoe UI Symbol" pitchFamily="34" charset="-122"/>
                <a:cs typeface="Segoe UI Symbol" pitchFamily="34" charset="-120"/>
              </a:rPr>
              <a:t>✓</a:t>
            </a:r>
            <a:endParaRPr lang="en-US" sz="1800" dirty="0"/>
          </a:p>
        </p:txBody>
      </p:sp>
      <p:sp>
        <p:nvSpPr>
          <p:cNvPr id="7" name="text_346"/>
          <p:cNvSpPr txBox="1"/>
          <p:nvPr/>
        </p:nvSpPr>
        <p:spPr>
          <a:xfrm>
            <a:off x="4434840" y="2057400"/>
            <a:ext cx="2804008" cy="475488"/>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A gap at 1.76 R⊕</a:t>
            </a:r>
            <a:endParaRPr lang="en-US" sz="2000" dirty="0"/>
          </a:p>
        </p:txBody>
      </p:sp>
      <p:sp>
        <p:nvSpPr>
          <p:cNvPr id="8" name="text_347"/>
          <p:cNvSpPr txBox="1"/>
          <p:nvPr/>
        </p:nvSpPr>
        <p:spPr>
          <a:xfrm>
            <a:off x="4434840" y="2606040"/>
            <a:ext cx="2804008" cy="548640"/>
          </a:xfrm>
          <a:prstGeom prst="rect">
            <a:avLst/>
          </a:prstGeom>
          <a:noFill/>
          <a:ln/>
        </p:spPr>
        <p:txBody>
          <a:bodyPr wrap="square" lIns="0" tIns="0" rIns="0" bIns="0" rtlCol="0" anchor="t"/>
          <a:lstStyle/>
          <a:p>
            <a:pPr marL="0" indent="0">
              <a:buNone/>
            </a:pPr>
            <a:r>
              <a:rPr lang="en-US" sz="1500" dirty="0">
                <a:solidFill>
                  <a:schemeClr val="accent5"/>
                </a:solidFill>
              </a:rPr>
              <a:t>stable across samples and bandwidths</a:t>
            </a:r>
            <a:endParaRPr lang="en-US" sz="1500" dirty="0"/>
          </a:p>
        </p:txBody>
      </p:sp>
      <p:sp>
        <p:nvSpPr>
          <p:cNvPr id="9" name="card_348"/>
          <p:cNvSpPr/>
          <p:nvPr/>
        </p:nvSpPr>
        <p:spPr>
          <a:xfrm>
            <a:off x="7741768" y="1737360"/>
            <a:ext cx="3901288" cy="1645920"/>
          </a:xfrm>
          <a:prstGeom prst="roundRect">
            <a:avLst>
              <a:gd name="adj" fmla="val 6667"/>
            </a:avLst>
          </a:prstGeom>
          <a:solidFill>
            <a:schemeClr val="tx2">
              <a:alpha val="75000"/>
            </a:schemeClr>
          </a:solidFill>
          <a:ln w="9525">
            <a:solidFill>
              <a:schemeClr val="accent6"/>
            </a:solidFill>
            <a:prstDash val="solid"/>
          </a:ln>
        </p:spPr>
        <p:txBody>
          <a:bodyPr/>
          <a:lstStyle/>
          <a:p>
            <a:endParaRPr lang="mk-MK"/>
          </a:p>
        </p:txBody>
      </p:sp>
      <p:sp>
        <p:nvSpPr>
          <p:cNvPr id="10" name="mark_349"/>
          <p:cNvSpPr/>
          <p:nvPr/>
        </p:nvSpPr>
        <p:spPr>
          <a:xfrm>
            <a:off x="8016088" y="2057400"/>
            <a:ext cx="475488" cy="475488"/>
          </a:xfrm>
          <a:prstGeom prst="ellipse">
            <a:avLst/>
          </a:prstGeom>
          <a:solidFill>
            <a:schemeClr val="accent3">
              <a:alpha val="20000"/>
            </a:schemeClr>
          </a:solidFill>
          <a:ln w="12700">
            <a:solidFill>
              <a:schemeClr val="accent3"/>
            </a:solidFill>
            <a:prstDash val="solid"/>
          </a:ln>
        </p:spPr>
        <p:txBody>
          <a:bodyPr/>
          <a:lstStyle/>
          <a:p>
            <a:endParaRPr lang="mk-MK"/>
          </a:p>
        </p:txBody>
      </p:sp>
      <p:sp>
        <p:nvSpPr>
          <p:cNvPr id="11" name="text_350"/>
          <p:cNvSpPr txBox="1"/>
          <p:nvPr/>
        </p:nvSpPr>
        <p:spPr>
          <a:xfrm>
            <a:off x="8016088" y="2057400"/>
            <a:ext cx="475488" cy="475488"/>
          </a:xfrm>
          <a:prstGeom prst="rect">
            <a:avLst/>
          </a:prstGeom>
          <a:noFill/>
          <a:ln/>
        </p:spPr>
        <p:txBody>
          <a:bodyPr wrap="square" lIns="0" tIns="0" rIns="0" bIns="0" rtlCol="0" anchor="ctr"/>
          <a:lstStyle/>
          <a:p>
            <a:pPr marL="0" indent="0" algn="ctr">
              <a:buNone/>
            </a:pPr>
            <a:r>
              <a:rPr lang="en-US" sz="1800" b="1" dirty="0">
                <a:solidFill>
                  <a:schemeClr val="accent3"/>
                </a:solidFill>
                <a:latin typeface="Segoe UI Symbol" pitchFamily="34" charset="0"/>
                <a:ea typeface="Segoe UI Symbol" pitchFamily="34" charset="-122"/>
                <a:cs typeface="Segoe UI Symbol" pitchFamily="34" charset="-120"/>
              </a:rPr>
              <a:t>~</a:t>
            </a:r>
            <a:endParaRPr lang="en-US" sz="1800" dirty="0"/>
          </a:p>
        </p:txBody>
      </p:sp>
      <p:sp>
        <p:nvSpPr>
          <p:cNvPr id="12" name="text_351"/>
          <p:cNvSpPr txBox="1"/>
          <p:nvPr/>
        </p:nvSpPr>
        <p:spPr>
          <a:xfrm>
            <a:off x="8656168" y="2057400"/>
            <a:ext cx="2804008" cy="475488"/>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But a shallow one</a:t>
            </a:r>
            <a:endParaRPr lang="en-US" sz="2000" dirty="0"/>
          </a:p>
        </p:txBody>
      </p:sp>
      <p:sp>
        <p:nvSpPr>
          <p:cNvPr id="13" name="text_352"/>
          <p:cNvSpPr txBox="1"/>
          <p:nvPr/>
        </p:nvSpPr>
        <p:spPr>
          <a:xfrm>
            <a:off x="8656168" y="2606040"/>
            <a:ext cx="2804008" cy="548640"/>
          </a:xfrm>
          <a:prstGeom prst="rect">
            <a:avLst/>
          </a:prstGeom>
          <a:noFill/>
          <a:ln/>
        </p:spPr>
        <p:txBody>
          <a:bodyPr wrap="square" lIns="0" tIns="0" rIns="0" bIns="0" rtlCol="0" anchor="t"/>
          <a:lstStyle/>
          <a:p>
            <a:pPr marL="0" indent="0">
              <a:buNone/>
            </a:pPr>
            <a:r>
              <a:rPr lang="en-US" sz="1500" dirty="0">
                <a:solidFill>
                  <a:schemeClr val="accent5"/>
                </a:solidFill>
              </a:rPr>
              <a:t>2.4% deep vs ≈ 2× in Fulton et al.</a:t>
            </a:r>
            <a:endParaRPr lang="en-US" sz="1500" dirty="0"/>
          </a:p>
        </p:txBody>
      </p:sp>
      <p:sp>
        <p:nvSpPr>
          <p:cNvPr id="14" name="card_353"/>
          <p:cNvSpPr/>
          <p:nvPr/>
        </p:nvSpPr>
        <p:spPr>
          <a:xfrm>
            <a:off x="3520440" y="3657600"/>
            <a:ext cx="3901288" cy="1645920"/>
          </a:xfrm>
          <a:prstGeom prst="roundRect">
            <a:avLst>
              <a:gd name="adj" fmla="val 6667"/>
            </a:avLst>
          </a:prstGeom>
          <a:solidFill>
            <a:schemeClr val="tx2">
              <a:alpha val="75000"/>
            </a:schemeClr>
          </a:solidFill>
          <a:ln w="9525">
            <a:solidFill>
              <a:schemeClr val="accent6"/>
            </a:solidFill>
            <a:prstDash val="solid"/>
          </a:ln>
        </p:spPr>
        <p:txBody>
          <a:bodyPr/>
          <a:lstStyle/>
          <a:p>
            <a:endParaRPr lang="mk-MK"/>
          </a:p>
        </p:txBody>
      </p:sp>
      <p:sp>
        <p:nvSpPr>
          <p:cNvPr id="15" name="mark_354"/>
          <p:cNvSpPr/>
          <p:nvPr/>
        </p:nvSpPr>
        <p:spPr>
          <a:xfrm>
            <a:off x="3794760" y="3977640"/>
            <a:ext cx="475488" cy="475488"/>
          </a:xfrm>
          <a:prstGeom prst="ellipse">
            <a:avLst/>
          </a:prstGeom>
          <a:solidFill>
            <a:schemeClr val="accent1">
              <a:alpha val="20000"/>
            </a:schemeClr>
          </a:solidFill>
          <a:ln w="12700">
            <a:solidFill>
              <a:schemeClr val="accent1"/>
            </a:solidFill>
            <a:prstDash val="solid"/>
          </a:ln>
        </p:spPr>
        <p:txBody>
          <a:bodyPr/>
          <a:lstStyle/>
          <a:p>
            <a:endParaRPr lang="mk-MK"/>
          </a:p>
        </p:txBody>
      </p:sp>
      <p:sp>
        <p:nvSpPr>
          <p:cNvPr id="16" name="text_355"/>
          <p:cNvSpPr txBox="1"/>
          <p:nvPr/>
        </p:nvSpPr>
        <p:spPr>
          <a:xfrm>
            <a:off x="3794760" y="3977640"/>
            <a:ext cx="475488" cy="475488"/>
          </a:xfrm>
          <a:prstGeom prst="rect">
            <a:avLst/>
          </a:prstGeom>
          <a:noFill/>
          <a:ln/>
        </p:spPr>
        <p:txBody>
          <a:bodyPr wrap="square" lIns="0" tIns="0" rIns="0" bIns="0" rtlCol="0" anchor="ctr"/>
          <a:lstStyle/>
          <a:p>
            <a:pPr marL="0" indent="0" algn="ctr">
              <a:buNone/>
            </a:pPr>
            <a:r>
              <a:rPr lang="en-US" sz="1800" b="1" dirty="0">
                <a:solidFill>
                  <a:schemeClr val="accent1"/>
                </a:solidFill>
                <a:latin typeface="Segoe UI Symbol" pitchFamily="34" charset="0"/>
                <a:ea typeface="Segoe UI Symbol" pitchFamily="34" charset="-122"/>
                <a:cs typeface="Segoe UI Symbol" pitchFamily="34" charset="-120"/>
              </a:rPr>
              <a:t>✓</a:t>
            </a:r>
            <a:endParaRPr lang="en-US" sz="1800" dirty="0"/>
          </a:p>
        </p:txBody>
      </p:sp>
      <p:sp>
        <p:nvSpPr>
          <p:cNvPr id="17" name="text_356"/>
          <p:cNvSpPr txBox="1"/>
          <p:nvPr/>
        </p:nvSpPr>
        <p:spPr>
          <a:xfrm>
            <a:off x="4434840" y="3977640"/>
            <a:ext cx="2804008" cy="475488"/>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A real period effect</a:t>
            </a:r>
            <a:endParaRPr lang="en-US" sz="2000" dirty="0"/>
          </a:p>
        </p:txBody>
      </p:sp>
      <p:sp>
        <p:nvSpPr>
          <p:cNvPr id="18" name="text_357"/>
          <p:cNvSpPr txBox="1"/>
          <p:nvPr/>
        </p:nvSpPr>
        <p:spPr>
          <a:xfrm>
            <a:off x="4434840" y="4526280"/>
            <a:ext cx="2804008" cy="548640"/>
          </a:xfrm>
          <a:prstGeom prst="rect">
            <a:avLst/>
          </a:prstGeom>
          <a:noFill/>
          <a:ln/>
        </p:spPr>
        <p:txBody>
          <a:bodyPr wrap="square" lIns="0" tIns="0" rIns="0" bIns="0" rtlCol="0" anchor="t"/>
          <a:lstStyle/>
          <a:p>
            <a:pPr marL="0" indent="0">
              <a:buNone/>
            </a:pPr>
            <a:r>
              <a:rPr lang="en-US" sz="1500" dirty="0">
                <a:solidFill>
                  <a:schemeClr val="accent5"/>
                </a:solidFill>
              </a:rPr>
              <a:t>Δ = 0.335, robust to every check</a:t>
            </a:r>
            <a:endParaRPr lang="en-US" sz="1500" dirty="0"/>
          </a:p>
        </p:txBody>
      </p:sp>
      <p:sp>
        <p:nvSpPr>
          <p:cNvPr id="19" name="card_358"/>
          <p:cNvSpPr/>
          <p:nvPr/>
        </p:nvSpPr>
        <p:spPr>
          <a:xfrm>
            <a:off x="7741768" y="3657600"/>
            <a:ext cx="3901288" cy="1645920"/>
          </a:xfrm>
          <a:prstGeom prst="roundRect">
            <a:avLst>
              <a:gd name="adj" fmla="val 6667"/>
            </a:avLst>
          </a:prstGeom>
          <a:solidFill>
            <a:schemeClr val="tx2">
              <a:alpha val="75000"/>
            </a:schemeClr>
          </a:solidFill>
          <a:ln w="9525">
            <a:solidFill>
              <a:schemeClr val="accent6"/>
            </a:solidFill>
            <a:prstDash val="solid"/>
          </a:ln>
        </p:spPr>
        <p:txBody>
          <a:bodyPr/>
          <a:lstStyle/>
          <a:p>
            <a:endParaRPr lang="mk-MK"/>
          </a:p>
        </p:txBody>
      </p:sp>
      <p:sp>
        <p:nvSpPr>
          <p:cNvPr id="20" name="mark_359"/>
          <p:cNvSpPr/>
          <p:nvPr/>
        </p:nvSpPr>
        <p:spPr>
          <a:xfrm>
            <a:off x="8016088" y="3977640"/>
            <a:ext cx="475488" cy="475488"/>
          </a:xfrm>
          <a:prstGeom prst="ellipse">
            <a:avLst/>
          </a:prstGeom>
          <a:solidFill>
            <a:schemeClr val="accent2">
              <a:alpha val="20000"/>
            </a:schemeClr>
          </a:solidFill>
          <a:ln w="12700">
            <a:solidFill>
              <a:schemeClr val="accent2"/>
            </a:solidFill>
            <a:prstDash val="solid"/>
          </a:ln>
        </p:spPr>
        <p:txBody>
          <a:bodyPr/>
          <a:lstStyle/>
          <a:p>
            <a:endParaRPr lang="mk-MK"/>
          </a:p>
        </p:txBody>
      </p:sp>
      <p:sp>
        <p:nvSpPr>
          <p:cNvPr id="21" name="text_360"/>
          <p:cNvSpPr txBox="1"/>
          <p:nvPr/>
        </p:nvSpPr>
        <p:spPr>
          <a:xfrm>
            <a:off x="8016088" y="3977640"/>
            <a:ext cx="475488" cy="475488"/>
          </a:xfrm>
          <a:prstGeom prst="rect">
            <a:avLst/>
          </a:prstGeom>
          <a:noFill/>
          <a:ln/>
        </p:spPr>
        <p:txBody>
          <a:bodyPr wrap="square" lIns="0" tIns="0" rIns="0" bIns="0" rtlCol="0" anchor="ctr"/>
          <a:lstStyle/>
          <a:p>
            <a:pPr marL="0" indent="0" algn="ctr">
              <a:buNone/>
            </a:pPr>
            <a:r>
              <a:rPr lang="en-US" sz="1800" b="1" dirty="0">
                <a:solidFill>
                  <a:schemeClr val="accent2"/>
                </a:solidFill>
                <a:latin typeface="Segoe UI Symbol" pitchFamily="34" charset="0"/>
                <a:ea typeface="Segoe UI Symbol" pitchFamily="34" charset="-122"/>
                <a:cs typeface="Segoe UI Symbol" pitchFamily="34" charset="-120"/>
              </a:rPr>
              <a:t>✗</a:t>
            </a:r>
            <a:endParaRPr lang="en-US" sz="1800" dirty="0"/>
          </a:p>
        </p:txBody>
      </p:sp>
      <p:sp>
        <p:nvSpPr>
          <p:cNvPr id="22" name="text_361"/>
          <p:cNvSpPr txBox="1"/>
          <p:nvPr/>
        </p:nvSpPr>
        <p:spPr>
          <a:xfrm>
            <a:off x="8656168" y="3977640"/>
            <a:ext cx="2804008" cy="475488"/>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Mechanism not proven</a:t>
            </a:r>
            <a:endParaRPr lang="en-US" sz="2000" dirty="0"/>
          </a:p>
        </p:txBody>
      </p:sp>
      <p:sp>
        <p:nvSpPr>
          <p:cNvPr id="23" name="text_362"/>
          <p:cNvSpPr txBox="1"/>
          <p:nvPr/>
        </p:nvSpPr>
        <p:spPr>
          <a:xfrm>
            <a:off x="8656168" y="4526280"/>
            <a:ext cx="2804008" cy="548640"/>
          </a:xfrm>
          <a:prstGeom prst="rect">
            <a:avLst/>
          </a:prstGeom>
          <a:noFill/>
          <a:ln/>
        </p:spPr>
        <p:txBody>
          <a:bodyPr wrap="square" lIns="0" tIns="0" rIns="0" bIns="0" rtlCol="0" anchor="t"/>
          <a:lstStyle/>
          <a:p>
            <a:pPr marL="0" indent="0">
              <a:buNone/>
            </a:pPr>
            <a:r>
              <a:rPr lang="en-US" sz="1500" dirty="0">
                <a:solidFill>
                  <a:schemeClr val="accent5"/>
                </a:solidFill>
              </a:rPr>
              <a:t>detection bias predicts the same</a:t>
            </a:r>
            <a:endParaRPr lang="en-US" sz="1500" dirty="0"/>
          </a:p>
        </p:txBody>
      </p:sp>
      <p:sp>
        <p:nvSpPr>
          <p:cNvPr id="24" name="text_363"/>
          <p:cNvSpPr txBox="1"/>
          <p:nvPr/>
        </p:nvSpPr>
        <p:spPr>
          <a:xfrm>
            <a:off x="4114800" y="5715000"/>
            <a:ext cx="7528255" cy="365760"/>
          </a:xfrm>
          <a:prstGeom prst="rect">
            <a:avLst/>
          </a:prstGeom>
          <a:noFill/>
          <a:ln/>
        </p:spPr>
        <p:txBody>
          <a:bodyPr wrap="square" lIns="0" tIns="0" rIns="0" bIns="0" rtlCol="0" anchor="t"/>
          <a:lstStyle/>
          <a:p>
            <a:pPr marL="0" indent="0">
              <a:buNone/>
            </a:pPr>
            <a:r>
              <a:rPr lang="en-US" sz="1700" b="1" dirty="0">
                <a:solidFill>
                  <a:schemeClr val="accent3"/>
                </a:solidFill>
              </a:rPr>
              <a:t>Next  </a:t>
            </a:r>
            <a:r>
              <a:rPr lang="en-US" sz="1700" dirty="0">
                <a:solidFill>
                  <a:schemeClr val="bg1"/>
                </a:solidFill>
              </a:rPr>
              <a:t>a homogeneous, completeness-corrected sample.</a:t>
            </a:r>
            <a:endParaRPr lang="en-US" sz="1700" dirty="0"/>
          </a:p>
        </p:txBody>
      </p:sp>
      <p:sp>
        <p:nvSpPr>
          <p:cNvPr id="25" name="text_364"/>
          <p:cNvSpPr txBox="1"/>
          <p:nvPr/>
        </p:nvSpPr>
        <p:spPr>
          <a:xfrm>
            <a:off x="4114800" y="6373368"/>
            <a:ext cx="6888175" cy="256032"/>
          </a:xfrm>
          <a:prstGeom prst="rect">
            <a:avLst/>
          </a:prstGeom>
          <a:noFill/>
          <a:ln/>
        </p:spPr>
        <p:txBody>
          <a:bodyPr wrap="square" lIns="0" tIns="0" rIns="0" bIns="0" rtlCol="0" anchor="t"/>
          <a:lstStyle/>
          <a:p>
            <a:pPr marL="0" indent="0">
              <a:buNone/>
            </a:pPr>
            <a:r>
              <a:rPr lang="en-US" sz="1000" dirty="0">
                <a:solidFill>
                  <a:schemeClr val="bg2"/>
                </a:solidFill>
              </a:rPr>
              <a:t>Fulton et al. 2017, AJ 154, 109 · Weiss et al. 2018, AJ 155, 48 · Chen &amp; Kipping 2017, ApJ 834, 17 · Silverman 1981, JRSS B 43, 97</a:t>
            </a:r>
            <a:endParaRPr lang="en-US" sz="1000" dirty="0"/>
          </a:p>
        </p:txBody>
      </p:sp>
      <p:sp>
        <p:nvSpPr>
          <p:cNvPr id="26"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Missing Middle — Deep Space">
  <a:themeElements>
    <a:clrScheme name="Missing Middle — Deep Space">
      <a:dk1>
        <a:srgbClr val="0A0E1E"/>
      </a:dk1>
      <a:lt1>
        <a:srgbClr val="EEF0F8"/>
      </a:lt1>
      <a:dk2>
        <a:srgbClr val="141A33"/>
      </a:dk2>
      <a:lt2>
        <a:srgbClr val="8D96B8"/>
      </a:lt2>
      <a:accent1>
        <a:srgbClr val="5EC8E5"/>
      </a:accent1>
      <a:accent2>
        <a:srgbClr val="E8875B"/>
      </a:accent2>
      <a:accent3>
        <a:srgbClr val="F5C451"/>
      </a:accent3>
      <a:accent4>
        <a:srgbClr val="B39DFA"/>
      </a:accent4>
      <a:accent5>
        <a:srgbClr val="9AA7D6"/>
      </a:accent5>
      <a:accent6>
        <a:srgbClr val="2A3352"/>
      </a:accent6>
      <a:hlink>
        <a:srgbClr val="5EC8E5"/>
      </a:hlink>
      <a:folHlink>
        <a:srgbClr val="B39DFA"/>
      </a:folHlink>
    </a:clrScheme>
    <a:fontScheme name="Missing Middle — Deep Spa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3029</Words>
  <Application>Microsoft Office PowerPoint</Application>
  <PresentationFormat>Widescreen</PresentationFormat>
  <Paragraphs>252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Segoe UI Symbol</vt:lpstr>
      <vt:lpstr>Missing Middle — Deep Space</vt:lpstr>
      <vt:lpstr>The Missing Middle</vt:lpstr>
      <vt:lpstr>Planets don’t come in every size</vt:lpstr>
      <vt:lpstr>Two theories, one testable prediction</vt:lpstr>
      <vt:lpstr>Four research questions</vt:lpstr>
      <vt:lpstr>One archive, many ways of finding planets</vt:lpstr>
      <vt:lpstr>Not every radius was measured</vt:lpstr>
      <vt:lpstr>From 6,319 to 2,587 planets</vt:lpstr>
      <vt:lpstr>2,587 planets in one picture</vt:lpstr>
      <vt:lpstr>Two components beat one — but that isn’t two peaks</vt:lpstr>
      <vt:lpstr>A density minimum at 1.76 R⊕</vt:lpstr>
      <vt:lpstr>The location holds up</vt:lpstr>
      <vt:lpstr>Robust in position — shallow in depth</vt:lpstr>
      <vt:lpstr>Same data, opposite verdicts</vt:lpstr>
      <vt:lpstr>The dip test isn’t weak — the valley is shallow</vt:lpstr>
      <vt:lpstr>Predicting the side of the gap — without radius</vt:lpstr>
      <vt:lpstr>The period–insolation axis carries the signal</vt:lpstr>
      <vt:lpstr>Long-period planets are larger</vt:lpstr>
      <vt:lpstr>The posteriors don’t even touch</vt:lpstr>
      <vt:lpstr>Detection bias predicts the same signature</vt:lpstr>
      <vt:lpstr>What the data supports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Missing Middle: A Statistical Investigation of the Exoplanet Radius Gap</dc:title>
  <dc:subject>PptxGenJS Presentation</dc:subject>
  <dc:creator>Jovana Mickovikj</dc:creator>
  <cp:lastModifiedBy>Мицковиќ Јована</cp:lastModifiedBy>
  <cp:revision>2</cp:revision>
  <dcterms:created xsi:type="dcterms:W3CDTF">2026-10-29T20:23:30Z</dcterms:created>
  <dcterms:modified xsi:type="dcterms:W3CDTF">2026-10-29T20:27:13Z</dcterms:modified>
</cp:coreProperties>
</file>